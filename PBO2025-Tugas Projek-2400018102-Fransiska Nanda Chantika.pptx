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210 클레이토이" panose="020B0604020202020204" charset="-127"/>
      <p:regular r:id="rId17"/>
    </p:embeddedFont>
    <p:embeddedFont>
      <p:font typeface="Quicksand" panose="020B0604020202020204" charset="0"/>
      <p:regular r:id="rId18"/>
    </p:embeddedFont>
    <p:embeddedFont>
      <p:font typeface="Quicksand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1659855" y="1424235"/>
            <a:ext cx="14939387" cy="7331713"/>
            <a:chOff x="0" y="0"/>
            <a:chExt cx="3560744" cy="1747485"/>
          </a:xfrm>
        </p:grpSpPr>
        <p:sp>
          <p:nvSpPr>
            <p:cNvPr id="12" name="Freeform 12"/>
            <p:cNvSpPr/>
            <p:nvPr/>
          </p:nvSpPr>
          <p:spPr>
            <a:xfrm>
              <a:off x="0" y="0"/>
              <a:ext cx="3560744" cy="1747485"/>
            </a:xfrm>
            <a:custGeom>
              <a:avLst/>
              <a:gdLst/>
              <a:ahLst/>
              <a:cxnLst/>
              <a:rect l="l" t="t" r="r" b="b"/>
              <a:pathLst>
                <a:path w="3560744" h="1747485">
                  <a:moveTo>
                    <a:pt x="10883" y="0"/>
                  </a:moveTo>
                  <a:lnTo>
                    <a:pt x="3549861" y="0"/>
                  </a:lnTo>
                  <a:cubicBezTo>
                    <a:pt x="3552747" y="0"/>
                    <a:pt x="3555516" y="1147"/>
                    <a:pt x="3557556" y="3187"/>
                  </a:cubicBezTo>
                  <a:cubicBezTo>
                    <a:pt x="3559597" y="5228"/>
                    <a:pt x="3560744" y="7996"/>
                    <a:pt x="3560744" y="10883"/>
                  </a:cubicBezTo>
                  <a:lnTo>
                    <a:pt x="3560744" y="1736602"/>
                  </a:lnTo>
                  <a:cubicBezTo>
                    <a:pt x="3560744" y="1739488"/>
                    <a:pt x="3559597" y="1742256"/>
                    <a:pt x="3557556" y="1744297"/>
                  </a:cubicBezTo>
                  <a:cubicBezTo>
                    <a:pt x="3555516" y="1746338"/>
                    <a:pt x="3552747" y="1747485"/>
                    <a:pt x="3549861" y="1747485"/>
                  </a:cubicBezTo>
                  <a:lnTo>
                    <a:pt x="10883" y="1747485"/>
                  </a:lnTo>
                  <a:cubicBezTo>
                    <a:pt x="4872" y="1747485"/>
                    <a:pt x="0" y="1742612"/>
                    <a:pt x="0" y="1736602"/>
                  </a:cubicBezTo>
                  <a:lnTo>
                    <a:pt x="0" y="10883"/>
                  </a:lnTo>
                  <a:cubicBezTo>
                    <a:pt x="0" y="4872"/>
                    <a:pt x="4872" y="0"/>
                    <a:pt x="10883" y="0"/>
                  </a:cubicBezTo>
                  <a:close/>
                </a:path>
              </a:pathLst>
            </a:custGeom>
            <a:solidFill>
              <a:srgbClr val="26B096"/>
            </a:solidFill>
            <a:ln w="38100" cap="rnd">
              <a:solidFill>
                <a:srgbClr val="0A322B"/>
              </a:solidFill>
              <a:prstDash val="solid"/>
              <a:round/>
            </a:ln>
          </p:spPr>
        </p:sp>
        <p:sp>
          <p:nvSpPr>
            <p:cNvPr id="13" name="TextBox 13"/>
            <p:cNvSpPr txBox="1"/>
            <p:nvPr/>
          </p:nvSpPr>
          <p:spPr>
            <a:xfrm>
              <a:off x="0" y="-38100"/>
              <a:ext cx="3560744" cy="1785585"/>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2259295" y="2082430"/>
            <a:ext cx="13660121" cy="4944218"/>
            <a:chOff x="0" y="0"/>
            <a:chExt cx="3255836" cy="1178435"/>
          </a:xfrm>
        </p:grpSpPr>
        <p:sp>
          <p:nvSpPr>
            <p:cNvPr id="15" name="Freeform 15"/>
            <p:cNvSpPr/>
            <p:nvPr/>
          </p:nvSpPr>
          <p:spPr>
            <a:xfrm>
              <a:off x="0" y="0"/>
              <a:ext cx="3255836" cy="1178435"/>
            </a:xfrm>
            <a:custGeom>
              <a:avLst/>
              <a:gdLst/>
              <a:ahLst/>
              <a:cxnLst/>
              <a:rect l="l" t="t" r="r" b="b"/>
              <a:pathLst>
                <a:path w="3255836" h="1178435">
                  <a:moveTo>
                    <a:pt x="10202" y="0"/>
                  </a:moveTo>
                  <a:lnTo>
                    <a:pt x="3245634" y="0"/>
                  </a:lnTo>
                  <a:cubicBezTo>
                    <a:pt x="3248340" y="0"/>
                    <a:pt x="3250935" y="1075"/>
                    <a:pt x="3252848" y="2988"/>
                  </a:cubicBezTo>
                  <a:cubicBezTo>
                    <a:pt x="3254761" y="4901"/>
                    <a:pt x="3255836" y="7496"/>
                    <a:pt x="3255836" y="10202"/>
                  </a:cubicBezTo>
                  <a:lnTo>
                    <a:pt x="3255836" y="1168233"/>
                  </a:lnTo>
                  <a:cubicBezTo>
                    <a:pt x="3255836" y="1170939"/>
                    <a:pt x="3254761" y="1173534"/>
                    <a:pt x="3252848" y="1175447"/>
                  </a:cubicBezTo>
                  <a:cubicBezTo>
                    <a:pt x="3250935" y="1177360"/>
                    <a:pt x="3248340" y="1178435"/>
                    <a:pt x="3245634" y="1178435"/>
                  </a:cubicBezTo>
                  <a:lnTo>
                    <a:pt x="10202" y="1178435"/>
                  </a:lnTo>
                  <a:cubicBezTo>
                    <a:pt x="7496" y="1178435"/>
                    <a:pt x="4901" y="1177360"/>
                    <a:pt x="2988" y="1175447"/>
                  </a:cubicBezTo>
                  <a:cubicBezTo>
                    <a:pt x="1075" y="1173534"/>
                    <a:pt x="0" y="1170939"/>
                    <a:pt x="0" y="1168233"/>
                  </a:cubicBezTo>
                  <a:lnTo>
                    <a:pt x="0" y="10202"/>
                  </a:lnTo>
                  <a:cubicBezTo>
                    <a:pt x="0" y="7496"/>
                    <a:pt x="1075" y="4901"/>
                    <a:pt x="2988" y="2988"/>
                  </a:cubicBezTo>
                  <a:cubicBezTo>
                    <a:pt x="4901" y="1075"/>
                    <a:pt x="7496" y="0"/>
                    <a:pt x="10202"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3255836" cy="1216535"/>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5439134" y="7414192"/>
            <a:ext cx="7467139" cy="1114063"/>
            <a:chOff x="0" y="0"/>
            <a:chExt cx="1779763" cy="265533"/>
          </a:xfrm>
        </p:grpSpPr>
        <p:sp>
          <p:nvSpPr>
            <p:cNvPr id="18" name="Freeform 18"/>
            <p:cNvSpPr/>
            <p:nvPr/>
          </p:nvSpPr>
          <p:spPr>
            <a:xfrm>
              <a:off x="0" y="0"/>
              <a:ext cx="1779763" cy="265533"/>
            </a:xfrm>
            <a:custGeom>
              <a:avLst/>
              <a:gdLst/>
              <a:ahLst/>
              <a:cxnLst/>
              <a:rect l="l" t="t" r="r" b="b"/>
              <a:pathLst>
                <a:path w="1779763" h="265533">
                  <a:moveTo>
                    <a:pt x="103680" y="0"/>
                  </a:moveTo>
                  <a:lnTo>
                    <a:pt x="1676083" y="0"/>
                  </a:lnTo>
                  <a:cubicBezTo>
                    <a:pt x="1733344" y="0"/>
                    <a:pt x="1779763" y="46419"/>
                    <a:pt x="1779763" y="103680"/>
                  </a:cubicBezTo>
                  <a:lnTo>
                    <a:pt x="1779763" y="161853"/>
                  </a:lnTo>
                  <a:cubicBezTo>
                    <a:pt x="1779763" y="189350"/>
                    <a:pt x="1768840" y="215722"/>
                    <a:pt x="1749396" y="235165"/>
                  </a:cubicBezTo>
                  <a:cubicBezTo>
                    <a:pt x="1729952" y="254609"/>
                    <a:pt x="1703581" y="265533"/>
                    <a:pt x="1676083" y="265533"/>
                  </a:cubicBezTo>
                  <a:lnTo>
                    <a:pt x="103680" y="265533"/>
                  </a:lnTo>
                  <a:cubicBezTo>
                    <a:pt x="76182" y="265533"/>
                    <a:pt x="49811" y="254609"/>
                    <a:pt x="30367" y="235165"/>
                  </a:cubicBezTo>
                  <a:cubicBezTo>
                    <a:pt x="10923" y="215722"/>
                    <a:pt x="0" y="189350"/>
                    <a:pt x="0" y="161853"/>
                  </a:cubicBezTo>
                  <a:lnTo>
                    <a:pt x="0" y="103680"/>
                  </a:lnTo>
                  <a:cubicBezTo>
                    <a:pt x="0" y="76182"/>
                    <a:pt x="10923" y="49811"/>
                    <a:pt x="30367" y="30367"/>
                  </a:cubicBezTo>
                  <a:cubicBezTo>
                    <a:pt x="49811" y="10923"/>
                    <a:pt x="76182" y="0"/>
                    <a:pt x="103680" y="0"/>
                  </a:cubicBezTo>
                  <a:close/>
                </a:path>
              </a:pathLst>
            </a:custGeom>
            <a:solidFill>
              <a:srgbClr val="FFFFFF"/>
            </a:solidFill>
            <a:ln w="38100" cap="rnd">
              <a:solidFill>
                <a:srgbClr val="0A322B"/>
              </a:solidFill>
              <a:prstDash val="solid"/>
              <a:round/>
            </a:ln>
          </p:spPr>
        </p:sp>
        <p:sp>
          <p:nvSpPr>
            <p:cNvPr id="19" name="TextBox 19"/>
            <p:cNvSpPr txBox="1"/>
            <p:nvPr/>
          </p:nvSpPr>
          <p:spPr>
            <a:xfrm>
              <a:off x="0" y="-38100"/>
              <a:ext cx="1779763" cy="303633"/>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2620436" y="3398859"/>
            <a:ext cx="12937837" cy="1689526"/>
          </a:xfrm>
          <a:prstGeom prst="rect">
            <a:avLst/>
          </a:prstGeom>
        </p:spPr>
        <p:txBody>
          <a:bodyPr wrap="square" lIns="0" tIns="0" rIns="0" bIns="0" rtlCol="0" anchor="t">
            <a:spAutoFit/>
          </a:bodyPr>
          <a:lstStyle/>
          <a:p>
            <a:pPr algn="ctr">
              <a:lnSpc>
                <a:spcPts val="11125"/>
              </a:lnSpc>
            </a:pPr>
            <a:r>
              <a:rPr lang="en-US" sz="4800" spc="-591">
                <a:solidFill>
                  <a:srgbClr val="FCDE8C"/>
                </a:solidFill>
                <a:latin typeface="210 클레이토이"/>
                <a:ea typeface="210 클레이토이"/>
                <a:cs typeface="210 클레이토이"/>
                <a:sym typeface="210 클레이토이"/>
              </a:rPr>
              <a:t>SISTEM PEMINJAMAN BUKU PERPUSTAKAAN</a:t>
            </a:r>
          </a:p>
          <a:p>
            <a:pPr algn="ctr">
              <a:lnSpc>
                <a:spcPts val="1305"/>
              </a:lnSpc>
            </a:pPr>
            <a:endParaRPr lang="en-US" sz="4800" spc="-591">
              <a:solidFill>
                <a:srgbClr val="FCDE8C"/>
              </a:solidFill>
              <a:latin typeface="210 클레이토이"/>
              <a:ea typeface="210 클레이토이"/>
              <a:cs typeface="210 클레이토이"/>
              <a:sym typeface="210 클레이토이"/>
            </a:endParaRPr>
          </a:p>
        </p:txBody>
      </p:sp>
      <p:sp>
        <p:nvSpPr>
          <p:cNvPr id="21" name="Freeform 21"/>
          <p:cNvSpPr/>
          <p:nvPr/>
        </p:nvSpPr>
        <p:spPr>
          <a:xfrm rot="4988857">
            <a:off x="8286747" y="-2134324"/>
            <a:ext cx="828641" cy="7724615"/>
          </a:xfrm>
          <a:custGeom>
            <a:avLst/>
            <a:gdLst/>
            <a:ahLst/>
            <a:cxnLst/>
            <a:rect l="l" t="t" r="r" b="b"/>
            <a:pathLst>
              <a:path w="828641" h="7724615">
                <a:moveTo>
                  <a:pt x="0" y="0"/>
                </a:moveTo>
                <a:lnTo>
                  <a:pt x="828641" y="0"/>
                </a:lnTo>
                <a:lnTo>
                  <a:pt x="828641" y="7724616"/>
                </a:lnTo>
                <a:lnTo>
                  <a:pt x="0" y="7724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TextBox 22"/>
          <p:cNvSpPr txBox="1"/>
          <p:nvPr/>
        </p:nvSpPr>
        <p:spPr>
          <a:xfrm>
            <a:off x="5920780" y="7561725"/>
            <a:ext cx="6664439" cy="742797"/>
          </a:xfrm>
          <a:prstGeom prst="rect">
            <a:avLst/>
          </a:prstGeom>
        </p:spPr>
        <p:txBody>
          <a:bodyPr lIns="0" tIns="0" rIns="0" bIns="0" rtlCol="0" anchor="t">
            <a:spAutoFit/>
          </a:bodyPr>
          <a:lstStyle/>
          <a:p>
            <a:pPr algn="ctr">
              <a:lnSpc>
                <a:spcPts val="6188"/>
              </a:lnSpc>
            </a:pPr>
            <a:r>
              <a:rPr lang="en-US" sz="4420" b="1" spc="-212">
                <a:solidFill>
                  <a:srgbClr val="444444"/>
                </a:solidFill>
                <a:latin typeface="Quicksand Bold"/>
                <a:ea typeface="Quicksand Bold"/>
                <a:cs typeface="Quicksand Bold"/>
                <a:sym typeface="Quicksand Bold"/>
              </a:rPr>
              <a:t>Fransiska Nanda Chantika</a:t>
            </a:r>
          </a:p>
        </p:txBody>
      </p:sp>
      <p:sp>
        <p:nvSpPr>
          <p:cNvPr id="23" name="TextBox 23"/>
          <p:cNvSpPr txBox="1"/>
          <p:nvPr/>
        </p:nvSpPr>
        <p:spPr>
          <a:xfrm>
            <a:off x="-426965" y="5748417"/>
            <a:ext cx="19113028" cy="438275"/>
          </a:xfrm>
          <a:prstGeom prst="rect">
            <a:avLst/>
          </a:prstGeom>
        </p:spPr>
        <p:txBody>
          <a:bodyPr lIns="0" tIns="0" rIns="0" bIns="0" rtlCol="0" anchor="t">
            <a:spAutoFit/>
          </a:bodyPr>
          <a:lstStyle/>
          <a:p>
            <a:pPr algn="ctr">
              <a:lnSpc>
                <a:spcPts val="3668"/>
              </a:lnSpc>
            </a:pPr>
            <a:r>
              <a:rPr lang="en-US" sz="2620" b="1" spc="-125">
                <a:solidFill>
                  <a:srgbClr val="444444"/>
                </a:solidFill>
                <a:latin typeface="Quicksand Bold"/>
                <a:ea typeface="Quicksand Bold"/>
                <a:cs typeface="Quicksand Bold"/>
                <a:sym typeface="Quicksand Bold"/>
              </a:rPr>
              <a:t>link github: https://github.com/frasiskachantika-gif/TUGAS-AKHIR-PBO_102.git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288935" y="684843"/>
            <a:ext cx="15816423" cy="8834362"/>
            <a:chOff x="0" y="0"/>
            <a:chExt cx="4165642" cy="2326746"/>
          </a:xfrm>
        </p:grpSpPr>
        <p:sp>
          <p:nvSpPr>
            <p:cNvPr id="15" name="Freeform 15"/>
            <p:cNvSpPr/>
            <p:nvPr/>
          </p:nvSpPr>
          <p:spPr>
            <a:xfrm>
              <a:off x="0" y="0"/>
              <a:ext cx="4165642" cy="2326746"/>
            </a:xfrm>
            <a:custGeom>
              <a:avLst/>
              <a:gdLst/>
              <a:ahLst/>
              <a:cxnLst/>
              <a:rect l="l" t="t" r="r" b="b"/>
              <a:pathLst>
                <a:path w="4165642" h="2326746">
                  <a:moveTo>
                    <a:pt x="8811" y="0"/>
                  </a:moveTo>
                  <a:lnTo>
                    <a:pt x="4156832" y="0"/>
                  </a:lnTo>
                  <a:cubicBezTo>
                    <a:pt x="4159168" y="0"/>
                    <a:pt x="4161409" y="928"/>
                    <a:pt x="4163062" y="2581"/>
                  </a:cubicBezTo>
                  <a:cubicBezTo>
                    <a:pt x="4164714" y="4233"/>
                    <a:pt x="4165642" y="6474"/>
                    <a:pt x="4165642" y="8811"/>
                  </a:cubicBezTo>
                  <a:lnTo>
                    <a:pt x="4165642" y="2317935"/>
                  </a:lnTo>
                  <a:cubicBezTo>
                    <a:pt x="4165642" y="2320272"/>
                    <a:pt x="4164714" y="2322513"/>
                    <a:pt x="4163062" y="2324165"/>
                  </a:cubicBezTo>
                  <a:cubicBezTo>
                    <a:pt x="4161409" y="2325817"/>
                    <a:pt x="4159168" y="2326746"/>
                    <a:pt x="4156832" y="2326746"/>
                  </a:cubicBezTo>
                  <a:lnTo>
                    <a:pt x="8811" y="2326746"/>
                  </a:lnTo>
                  <a:cubicBezTo>
                    <a:pt x="6474" y="2326746"/>
                    <a:pt x="4233" y="2325817"/>
                    <a:pt x="2581" y="2324165"/>
                  </a:cubicBezTo>
                  <a:cubicBezTo>
                    <a:pt x="928" y="2322513"/>
                    <a:pt x="0" y="2320272"/>
                    <a:pt x="0" y="2317935"/>
                  </a:cubicBezTo>
                  <a:lnTo>
                    <a:pt x="0" y="8811"/>
                  </a:lnTo>
                  <a:cubicBezTo>
                    <a:pt x="0" y="6474"/>
                    <a:pt x="928" y="4233"/>
                    <a:pt x="2581" y="2581"/>
                  </a:cubicBezTo>
                  <a:cubicBezTo>
                    <a:pt x="4233" y="928"/>
                    <a:pt x="6474" y="0"/>
                    <a:pt x="8811"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165642" cy="236484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2032523" y="2173612"/>
            <a:ext cx="14372769" cy="6600866"/>
            <a:chOff x="0" y="0"/>
            <a:chExt cx="3785421" cy="1738500"/>
          </a:xfrm>
        </p:grpSpPr>
        <p:sp>
          <p:nvSpPr>
            <p:cNvPr id="18" name="Freeform 18"/>
            <p:cNvSpPr/>
            <p:nvPr/>
          </p:nvSpPr>
          <p:spPr>
            <a:xfrm>
              <a:off x="0" y="0"/>
              <a:ext cx="3785420" cy="1738500"/>
            </a:xfrm>
            <a:custGeom>
              <a:avLst/>
              <a:gdLst/>
              <a:ahLst/>
              <a:cxnLst/>
              <a:rect l="l" t="t" r="r" b="b"/>
              <a:pathLst>
                <a:path w="3785420" h="1738500">
                  <a:moveTo>
                    <a:pt x="9696" y="0"/>
                  </a:moveTo>
                  <a:lnTo>
                    <a:pt x="3775725" y="0"/>
                  </a:lnTo>
                  <a:cubicBezTo>
                    <a:pt x="3778296" y="0"/>
                    <a:pt x="3780762" y="1022"/>
                    <a:pt x="3782581" y="2840"/>
                  </a:cubicBezTo>
                  <a:cubicBezTo>
                    <a:pt x="3784399" y="4658"/>
                    <a:pt x="3785420" y="7124"/>
                    <a:pt x="3785420" y="9696"/>
                  </a:cubicBezTo>
                  <a:lnTo>
                    <a:pt x="3785420" y="1728804"/>
                  </a:lnTo>
                  <a:cubicBezTo>
                    <a:pt x="3785420" y="1731376"/>
                    <a:pt x="3784399" y="1733842"/>
                    <a:pt x="3782581" y="1735660"/>
                  </a:cubicBezTo>
                  <a:cubicBezTo>
                    <a:pt x="3780762" y="1737478"/>
                    <a:pt x="3778296" y="1738500"/>
                    <a:pt x="3775725" y="1738500"/>
                  </a:cubicBezTo>
                  <a:lnTo>
                    <a:pt x="9696" y="1738500"/>
                  </a:lnTo>
                  <a:cubicBezTo>
                    <a:pt x="7124" y="1738500"/>
                    <a:pt x="4658" y="1737478"/>
                    <a:pt x="2840" y="1735660"/>
                  </a:cubicBezTo>
                  <a:cubicBezTo>
                    <a:pt x="1022" y="1733842"/>
                    <a:pt x="0" y="1731376"/>
                    <a:pt x="0" y="1728804"/>
                  </a:cubicBezTo>
                  <a:lnTo>
                    <a:pt x="0" y="9696"/>
                  </a:lnTo>
                  <a:cubicBezTo>
                    <a:pt x="0" y="7124"/>
                    <a:pt x="1022" y="4658"/>
                    <a:pt x="2840" y="2840"/>
                  </a:cubicBezTo>
                  <a:cubicBezTo>
                    <a:pt x="4658" y="1022"/>
                    <a:pt x="7124" y="0"/>
                    <a:pt x="9696" y="0"/>
                  </a:cubicBezTo>
                  <a:close/>
                </a:path>
              </a:pathLst>
            </a:custGeom>
            <a:solidFill>
              <a:srgbClr val="FFFFFF"/>
            </a:solidFill>
            <a:ln w="38100" cap="sq">
              <a:solidFill>
                <a:srgbClr val="0A322B"/>
              </a:solidFill>
              <a:prstDash val="solid"/>
              <a:miter/>
            </a:ln>
          </p:spPr>
        </p:sp>
        <p:sp>
          <p:nvSpPr>
            <p:cNvPr id="19" name="TextBox 19"/>
            <p:cNvSpPr txBox="1"/>
            <p:nvPr/>
          </p:nvSpPr>
          <p:spPr>
            <a:xfrm>
              <a:off x="0" y="-38100"/>
              <a:ext cx="3785421" cy="17766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553124" y="1209675"/>
            <a:ext cx="10007059" cy="963937"/>
          </a:xfrm>
          <a:prstGeom prst="rect">
            <a:avLst/>
          </a:prstGeom>
        </p:spPr>
        <p:txBody>
          <a:bodyPr lIns="0" tIns="0" rIns="0" bIns="0" rtlCol="0" anchor="t">
            <a:spAutoFit/>
          </a:bodyPr>
          <a:lstStyle/>
          <a:p>
            <a:pPr marL="0" lvl="0" indent="0" algn="l">
              <a:lnSpc>
                <a:spcPts val="7104"/>
              </a:lnSpc>
              <a:spcBef>
                <a:spcPct val="0"/>
              </a:spcBef>
            </a:pPr>
            <a:r>
              <a:rPr lang="en-US" sz="7557" spc="-377">
                <a:solidFill>
                  <a:srgbClr val="FCDE8C"/>
                </a:solidFill>
                <a:latin typeface="210 클레이토이"/>
                <a:ea typeface="210 클레이토이"/>
                <a:cs typeface="210 클레이토이"/>
                <a:sym typeface="210 클레이토이"/>
              </a:rPr>
              <a:t>L</a:t>
            </a:r>
            <a:r>
              <a:rPr lang="en-US" sz="7557" u="none" strike="noStrike" spc="-377">
                <a:solidFill>
                  <a:srgbClr val="FCDE8C"/>
                </a:solidFill>
                <a:latin typeface="210 클레이토이"/>
                <a:ea typeface="210 클레이토이"/>
                <a:cs typeface="210 클레이토이"/>
                <a:sym typeface="210 클레이토이"/>
              </a:rPr>
              <a:t>ATAR BELAKANG</a:t>
            </a:r>
          </a:p>
        </p:txBody>
      </p:sp>
      <p:sp>
        <p:nvSpPr>
          <p:cNvPr id="21" name="TextBox 21"/>
          <p:cNvSpPr txBox="1"/>
          <p:nvPr/>
        </p:nvSpPr>
        <p:spPr>
          <a:xfrm>
            <a:off x="2516456" y="2995731"/>
            <a:ext cx="13888836" cy="1195197"/>
          </a:xfrm>
          <a:prstGeom prst="rect">
            <a:avLst/>
          </a:prstGeom>
        </p:spPr>
        <p:txBody>
          <a:bodyPr lIns="0" tIns="0" rIns="0" bIns="0" rtlCol="0" anchor="t">
            <a:spAutoFit/>
          </a:bodyPr>
          <a:lstStyle/>
          <a:p>
            <a:pPr marL="0" lvl="0" indent="0" algn="l">
              <a:lnSpc>
                <a:spcPts val="3173"/>
              </a:lnSpc>
            </a:pPr>
            <a:r>
              <a:rPr lang="en-US" sz="2299" spc="-114">
                <a:solidFill>
                  <a:srgbClr val="231F20"/>
                </a:solidFill>
                <a:latin typeface="Quicksand"/>
                <a:ea typeface="Quicksand"/>
                <a:cs typeface="Quicksand"/>
                <a:sym typeface="Quicksand"/>
              </a:rPr>
              <a:t>Pengelolaan peminjaman buku di perpustakaan masih dilakukan secara manual menggunakan pencatatan tertulis atau spreadsheet. Hal ini sering menyebabkan kesalahan data, menyulitkan proses pencarian riwayat peminjaman dan pengembalian, serta membuat perhitungan denda keterlambatan menjadi kurang konsisten.</a:t>
            </a:r>
          </a:p>
        </p:txBody>
      </p:sp>
      <p:sp>
        <p:nvSpPr>
          <p:cNvPr id="22" name="TextBox 22"/>
          <p:cNvSpPr txBox="1"/>
          <p:nvPr/>
        </p:nvSpPr>
        <p:spPr>
          <a:xfrm>
            <a:off x="2233107" y="1960686"/>
            <a:ext cx="3412751" cy="1340301"/>
          </a:xfrm>
          <a:prstGeom prst="rect">
            <a:avLst/>
          </a:prstGeom>
        </p:spPr>
        <p:txBody>
          <a:bodyPr lIns="0" tIns="0" rIns="0" bIns="0" rtlCol="0" anchor="t">
            <a:spAutoFit/>
          </a:bodyPr>
          <a:lstStyle/>
          <a:p>
            <a:pPr algn="l">
              <a:lnSpc>
                <a:spcPts val="3448"/>
              </a:lnSpc>
            </a:pPr>
            <a:endParaRPr/>
          </a:p>
          <a:p>
            <a:pPr marL="0" lvl="0" indent="0" algn="l">
              <a:lnSpc>
                <a:spcPts val="3448"/>
              </a:lnSpc>
              <a:spcBef>
                <a:spcPct val="0"/>
              </a:spcBef>
            </a:pPr>
            <a:r>
              <a:rPr lang="en-US" sz="3668" spc="-183">
                <a:solidFill>
                  <a:srgbClr val="231F20"/>
                </a:solidFill>
                <a:latin typeface="210 클레이토이"/>
                <a:ea typeface="210 클레이토이"/>
                <a:cs typeface="210 클레이토이"/>
                <a:sym typeface="210 클레이토이"/>
              </a:rPr>
              <a:t>Kondisi</a:t>
            </a:r>
            <a:r>
              <a:rPr lang="en-US" sz="3668" u="none" strike="noStrike" spc="-183">
                <a:solidFill>
                  <a:srgbClr val="231F20"/>
                </a:solidFill>
                <a:latin typeface="210 클레이토이"/>
                <a:ea typeface="210 클레이토이"/>
                <a:cs typeface="210 클레이토이"/>
                <a:sym typeface="210 클레이토이"/>
              </a:rPr>
              <a:t> Saat Ini</a:t>
            </a:r>
          </a:p>
          <a:p>
            <a:pPr marL="0" lvl="0" indent="0" algn="l">
              <a:lnSpc>
                <a:spcPts val="3448"/>
              </a:lnSpc>
              <a:spcBef>
                <a:spcPct val="0"/>
              </a:spcBef>
            </a:pPr>
            <a:endParaRPr lang="en-US" sz="3668" u="none" strike="noStrike" spc="-183">
              <a:solidFill>
                <a:srgbClr val="231F20"/>
              </a:solidFill>
              <a:latin typeface="210 클레이토이"/>
              <a:ea typeface="210 클레이토이"/>
              <a:cs typeface="210 클레이토이"/>
              <a:sym typeface="210 클레이토이"/>
            </a:endParaRPr>
          </a:p>
        </p:txBody>
      </p:sp>
      <p:sp>
        <p:nvSpPr>
          <p:cNvPr id="23" name="TextBox 23"/>
          <p:cNvSpPr txBox="1"/>
          <p:nvPr/>
        </p:nvSpPr>
        <p:spPr>
          <a:xfrm>
            <a:off x="2233107" y="4133745"/>
            <a:ext cx="6077643" cy="1340301"/>
          </a:xfrm>
          <a:prstGeom prst="rect">
            <a:avLst/>
          </a:prstGeom>
        </p:spPr>
        <p:txBody>
          <a:bodyPr lIns="0" tIns="0" rIns="0" bIns="0" rtlCol="0" anchor="t">
            <a:spAutoFit/>
          </a:bodyPr>
          <a:lstStyle/>
          <a:p>
            <a:pPr algn="l">
              <a:lnSpc>
                <a:spcPts val="3448"/>
              </a:lnSpc>
            </a:pPr>
            <a:endParaRPr/>
          </a:p>
          <a:p>
            <a:pPr marL="0" lvl="0" indent="0" algn="l">
              <a:lnSpc>
                <a:spcPts val="3448"/>
              </a:lnSpc>
              <a:spcBef>
                <a:spcPct val="0"/>
              </a:spcBef>
            </a:pPr>
            <a:r>
              <a:rPr lang="en-US" sz="3668" spc="-183">
                <a:solidFill>
                  <a:srgbClr val="231F20"/>
                </a:solidFill>
                <a:latin typeface="210 클레이토이"/>
                <a:ea typeface="210 클레이토이"/>
                <a:cs typeface="210 클레이토이"/>
                <a:sym typeface="210 클레이토이"/>
              </a:rPr>
              <a:t>Solusi </a:t>
            </a:r>
            <a:r>
              <a:rPr lang="en-US" sz="3668" u="none" strike="noStrike" spc="-183">
                <a:solidFill>
                  <a:srgbClr val="231F20"/>
                </a:solidFill>
                <a:latin typeface="210 클레이토이"/>
                <a:ea typeface="210 클레이토이"/>
                <a:cs typeface="210 클레이토이"/>
                <a:sym typeface="210 클레이토이"/>
              </a:rPr>
              <a:t>y</a:t>
            </a:r>
            <a:r>
              <a:rPr lang="en-US" sz="3668" spc="-183">
                <a:solidFill>
                  <a:srgbClr val="231F20"/>
                </a:solidFill>
                <a:latin typeface="210 클레이토이"/>
                <a:ea typeface="210 클레이토이"/>
                <a:cs typeface="210 클레이토이"/>
                <a:sym typeface="210 클레이토이"/>
              </a:rPr>
              <a:t>an</a:t>
            </a:r>
            <a:r>
              <a:rPr lang="en-US" sz="3668" u="none" strike="noStrike" spc="-183">
                <a:solidFill>
                  <a:srgbClr val="231F20"/>
                </a:solidFill>
                <a:latin typeface="210 클레이토이"/>
                <a:ea typeface="210 클레이토이"/>
                <a:cs typeface="210 클레이토이"/>
                <a:sym typeface="210 클레이토이"/>
              </a:rPr>
              <a:t>g D</a:t>
            </a:r>
            <a:r>
              <a:rPr lang="en-US" sz="3668" spc="-183">
                <a:solidFill>
                  <a:srgbClr val="231F20"/>
                </a:solidFill>
                <a:latin typeface="210 클레이토이"/>
                <a:ea typeface="210 클레이토이"/>
                <a:cs typeface="210 클레이토이"/>
                <a:sym typeface="210 클레이토이"/>
              </a:rPr>
              <a:t>i</a:t>
            </a:r>
            <a:r>
              <a:rPr lang="en-US" sz="3668" u="none" strike="noStrike" spc="-183">
                <a:solidFill>
                  <a:srgbClr val="231F20"/>
                </a:solidFill>
                <a:latin typeface="210 클레이토이"/>
                <a:ea typeface="210 클레이토이"/>
                <a:cs typeface="210 클레이토이"/>
                <a:sym typeface="210 클레이토이"/>
              </a:rPr>
              <a:t>butuhkan</a:t>
            </a:r>
          </a:p>
          <a:p>
            <a:pPr marL="0" lvl="0" indent="0" algn="l">
              <a:lnSpc>
                <a:spcPts val="3448"/>
              </a:lnSpc>
              <a:spcBef>
                <a:spcPct val="0"/>
              </a:spcBef>
            </a:pPr>
            <a:endParaRPr lang="en-US" sz="3668" u="none" strike="noStrike" spc="-183">
              <a:solidFill>
                <a:srgbClr val="231F20"/>
              </a:solidFill>
              <a:latin typeface="210 클레이토이"/>
              <a:ea typeface="210 클레이토이"/>
              <a:cs typeface="210 클레이토이"/>
              <a:sym typeface="210 클레이토이"/>
            </a:endParaRPr>
          </a:p>
        </p:txBody>
      </p:sp>
      <p:sp>
        <p:nvSpPr>
          <p:cNvPr id="24" name="TextBox 24"/>
          <p:cNvSpPr txBox="1"/>
          <p:nvPr/>
        </p:nvSpPr>
        <p:spPr>
          <a:xfrm>
            <a:off x="2516456" y="5240655"/>
            <a:ext cx="13888836" cy="1195197"/>
          </a:xfrm>
          <a:prstGeom prst="rect">
            <a:avLst/>
          </a:prstGeom>
        </p:spPr>
        <p:txBody>
          <a:bodyPr lIns="0" tIns="0" rIns="0" bIns="0" rtlCol="0" anchor="t">
            <a:spAutoFit/>
          </a:bodyPr>
          <a:lstStyle/>
          <a:p>
            <a:pPr marL="0" lvl="0" indent="0" algn="l">
              <a:lnSpc>
                <a:spcPts val="3173"/>
              </a:lnSpc>
            </a:pPr>
            <a:r>
              <a:rPr lang="en-US" sz="2299" spc="-114">
                <a:solidFill>
                  <a:srgbClr val="231F20"/>
                </a:solidFill>
                <a:latin typeface="Quicksand"/>
                <a:ea typeface="Quicksand"/>
                <a:cs typeface="Quicksand"/>
                <a:sym typeface="Quicksand"/>
              </a:rPr>
              <a:t>Diperlukan sebuah sistem peminjaman buku berbasis komputer yang mampu mengelola data secara terpusat, mengotomatisasi proses peminjaman dan pengembalian, menghitung denda secara otomatis, serta menyediakan antarmuka yang mudah digunakan oleh petugas dan anggota perpustakaan.</a:t>
            </a:r>
          </a:p>
        </p:txBody>
      </p:sp>
      <p:sp>
        <p:nvSpPr>
          <p:cNvPr id="25" name="TextBox 25"/>
          <p:cNvSpPr txBox="1"/>
          <p:nvPr/>
        </p:nvSpPr>
        <p:spPr>
          <a:xfrm>
            <a:off x="2233107" y="6805195"/>
            <a:ext cx="6077643" cy="470377"/>
          </a:xfrm>
          <a:prstGeom prst="rect">
            <a:avLst/>
          </a:prstGeom>
        </p:spPr>
        <p:txBody>
          <a:bodyPr lIns="0" tIns="0" rIns="0" bIns="0" rtlCol="0" anchor="t">
            <a:spAutoFit/>
          </a:bodyPr>
          <a:lstStyle/>
          <a:p>
            <a:pPr marL="0" lvl="0" indent="0" algn="l">
              <a:lnSpc>
                <a:spcPts val="3448"/>
              </a:lnSpc>
              <a:spcBef>
                <a:spcPct val="0"/>
              </a:spcBef>
            </a:pPr>
            <a:r>
              <a:rPr lang="en-US" sz="3668" spc="-183">
                <a:solidFill>
                  <a:srgbClr val="231F20"/>
                </a:solidFill>
                <a:latin typeface="210 클레이토이"/>
                <a:ea typeface="210 클레이토이"/>
                <a:cs typeface="210 클레이토이"/>
                <a:sym typeface="210 클레이토이"/>
              </a:rPr>
              <a:t>PEnerapan</a:t>
            </a:r>
            <a:r>
              <a:rPr lang="en-US" sz="3668" u="none" strike="noStrike" spc="-183">
                <a:solidFill>
                  <a:srgbClr val="231F20"/>
                </a:solidFill>
                <a:latin typeface="210 클레이토이"/>
                <a:ea typeface="210 클레이토이"/>
                <a:cs typeface="210 클레이토이"/>
                <a:sym typeface="210 클레이토이"/>
              </a:rPr>
              <a:t> OOP</a:t>
            </a:r>
          </a:p>
        </p:txBody>
      </p:sp>
      <p:sp>
        <p:nvSpPr>
          <p:cNvPr id="26" name="TextBox 26"/>
          <p:cNvSpPr txBox="1"/>
          <p:nvPr/>
        </p:nvSpPr>
        <p:spPr>
          <a:xfrm>
            <a:off x="2516456" y="7513698"/>
            <a:ext cx="13888836" cy="795147"/>
          </a:xfrm>
          <a:prstGeom prst="rect">
            <a:avLst/>
          </a:prstGeom>
        </p:spPr>
        <p:txBody>
          <a:bodyPr lIns="0" tIns="0" rIns="0" bIns="0" rtlCol="0" anchor="t">
            <a:spAutoFit/>
          </a:bodyPr>
          <a:lstStyle/>
          <a:p>
            <a:pPr marL="0" lvl="0" indent="0" algn="l">
              <a:lnSpc>
                <a:spcPts val="3173"/>
              </a:lnSpc>
            </a:pPr>
            <a:r>
              <a:rPr lang="en-US" sz="2299" spc="-114">
                <a:solidFill>
                  <a:srgbClr val="231F20"/>
                </a:solidFill>
                <a:latin typeface="Quicksand"/>
                <a:ea typeface="Quicksand"/>
                <a:cs typeface="Quicksand"/>
                <a:sym typeface="Quicksand"/>
              </a:rPr>
              <a:t>Aplikasi dikembangkan dengan menerapkan konsep Object-Oriented Programming (OOP) untuk menghasilkan sistem yang terstruktur, mudah dikembangkan, dan mudah dipelihara.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81919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15840" y="541569"/>
            <a:ext cx="16876649" cy="9321493"/>
            <a:chOff x="0" y="0"/>
            <a:chExt cx="4444879" cy="2455043"/>
          </a:xfrm>
        </p:grpSpPr>
        <p:sp>
          <p:nvSpPr>
            <p:cNvPr id="15" name="Freeform 15"/>
            <p:cNvSpPr/>
            <p:nvPr/>
          </p:nvSpPr>
          <p:spPr>
            <a:xfrm>
              <a:off x="0" y="0"/>
              <a:ext cx="4444879" cy="2455043"/>
            </a:xfrm>
            <a:custGeom>
              <a:avLst/>
              <a:gdLst/>
              <a:ahLst/>
              <a:cxnLst/>
              <a:rect l="l" t="t" r="r" b="b"/>
              <a:pathLst>
                <a:path w="4444879" h="2455043">
                  <a:moveTo>
                    <a:pt x="8257" y="0"/>
                  </a:moveTo>
                  <a:lnTo>
                    <a:pt x="4436621" y="0"/>
                  </a:lnTo>
                  <a:cubicBezTo>
                    <a:pt x="4441182" y="0"/>
                    <a:pt x="4444879" y="3697"/>
                    <a:pt x="4444879" y="8257"/>
                  </a:cubicBezTo>
                  <a:lnTo>
                    <a:pt x="4444879" y="2446786"/>
                  </a:lnTo>
                  <a:cubicBezTo>
                    <a:pt x="4444879" y="2451346"/>
                    <a:pt x="4441182" y="2455043"/>
                    <a:pt x="4436621" y="2455043"/>
                  </a:cubicBezTo>
                  <a:lnTo>
                    <a:pt x="8257" y="2455043"/>
                  </a:lnTo>
                  <a:cubicBezTo>
                    <a:pt x="3697" y="2455043"/>
                    <a:pt x="0" y="2451346"/>
                    <a:pt x="0" y="2446786"/>
                  </a:cubicBezTo>
                  <a:lnTo>
                    <a:pt x="0" y="8257"/>
                  </a:lnTo>
                  <a:cubicBezTo>
                    <a:pt x="0" y="3697"/>
                    <a:pt x="3697" y="0"/>
                    <a:pt x="82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444879" cy="24931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295231" y="1679013"/>
            <a:ext cx="15690887" cy="7876658"/>
            <a:chOff x="0" y="0"/>
            <a:chExt cx="4132579" cy="2074511"/>
          </a:xfrm>
        </p:grpSpPr>
        <p:sp>
          <p:nvSpPr>
            <p:cNvPr id="18" name="Freeform 18"/>
            <p:cNvSpPr/>
            <p:nvPr/>
          </p:nvSpPr>
          <p:spPr>
            <a:xfrm>
              <a:off x="0" y="0"/>
              <a:ext cx="4132580" cy="2074511"/>
            </a:xfrm>
            <a:custGeom>
              <a:avLst/>
              <a:gdLst/>
              <a:ahLst/>
              <a:cxnLst/>
              <a:rect l="l" t="t" r="r" b="b"/>
              <a:pathLst>
                <a:path w="4132580" h="2074511">
                  <a:moveTo>
                    <a:pt x="8881" y="0"/>
                  </a:moveTo>
                  <a:lnTo>
                    <a:pt x="4123698" y="0"/>
                  </a:lnTo>
                  <a:cubicBezTo>
                    <a:pt x="4126054" y="0"/>
                    <a:pt x="4128313" y="936"/>
                    <a:pt x="4129978" y="2601"/>
                  </a:cubicBezTo>
                  <a:cubicBezTo>
                    <a:pt x="4131644" y="4267"/>
                    <a:pt x="4132580" y="6526"/>
                    <a:pt x="4132580" y="8881"/>
                  </a:cubicBezTo>
                  <a:lnTo>
                    <a:pt x="4132580" y="2065630"/>
                  </a:lnTo>
                  <a:cubicBezTo>
                    <a:pt x="4132580" y="2067985"/>
                    <a:pt x="4131644" y="2070244"/>
                    <a:pt x="4129978" y="2071910"/>
                  </a:cubicBezTo>
                  <a:cubicBezTo>
                    <a:pt x="4128313" y="2073575"/>
                    <a:pt x="4126054" y="2074511"/>
                    <a:pt x="4123698" y="2074511"/>
                  </a:cubicBezTo>
                  <a:lnTo>
                    <a:pt x="8881" y="2074511"/>
                  </a:lnTo>
                  <a:cubicBezTo>
                    <a:pt x="3976" y="2074511"/>
                    <a:pt x="0" y="2070534"/>
                    <a:pt x="0" y="2065630"/>
                  </a:cubicBezTo>
                  <a:lnTo>
                    <a:pt x="0" y="8881"/>
                  </a:lnTo>
                  <a:cubicBezTo>
                    <a:pt x="0" y="6526"/>
                    <a:pt x="936" y="4267"/>
                    <a:pt x="2601" y="2601"/>
                  </a:cubicBezTo>
                  <a:cubicBezTo>
                    <a:pt x="4267" y="936"/>
                    <a:pt x="6526" y="0"/>
                    <a:pt x="8881" y="0"/>
                  </a:cubicBezTo>
                  <a:close/>
                </a:path>
              </a:pathLst>
            </a:custGeom>
            <a:solidFill>
              <a:srgbClr val="FFFFFF"/>
            </a:solidFill>
            <a:ln w="38100" cap="sq">
              <a:solidFill>
                <a:srgbClr val="0A322B"/>
              </a:solidFill>
              <a:prstDash val="solid"/>
              <a:miter/>
            </a:ln>
          </p:spPr>
        </p:sp>
        <p:sp>
          <p:nvSpPr>
            <p:cNvPr id="19" name="TextBox 19"/>
            <p:cNvSpPr txBox="1"/>
            <p:nvPr/>
          </p:nvSpPr>
          <p:spPr>
            <a:xfrm>
              <a:off x="0" y="-38100"/>
              <a:ext cx="4132579" cy="211261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a:off x="1931598" y="2083281"/>
            <a:ext cx="14301859" cy="1072526"/>
            <a:chOff x="0" y="0"/>
            <a:chExt cx="3766745" cy="282476"/>
          </a:xfrm>
        </p:grpSpPr>
        <p:sp>
          <p:nvSpPr>
            <p:cNvPr id="21" name="Freeform 21"/>
            <p:cNvSpPr/>
            <p:nvPr/>
          </p:nvSpPr>
          <p:spPr>
            <a:xfrm>
              <a:off x="0" y="0"/>
              <a:ext cx="3766745" cy="282476"/>
            </a:xfrm>
            <a:custGeom>
              <a:avLst/>
              <a:gdLst/>
              <a:ahLst/>
              <a:cxnLst/>
              <a:rect l="l" t="t" r="r" b="b"/>
              <a:pathLst>
                <a:path w="3766745" h="282476">
                  <a:moveTo>
                    <a:pt x="9744" y="0"/>
                  </a:moveTo>
                  <a:lnTo>
                    <a:pt x="3757001" y="0"/>
                  </a:lnTo>
                  <a:cubicBezTo>
                    <a:pt x="3762382" y="0"/>
                    <a:pt x="3766745" y="4362"/>
                    <a:pt x="3766745" y="9744"/>
                  </a:cubicBezTo>
                  <a:lnTo>
                    <a:pt x="3766745" y="272732"/>
                  </a:lnTo>
                  <a:cubicBezTo>
                    <a:pt x="3766745" y="275316"/>
                    <a:pt x="3765718" y="277795"/>
                    <a:pt x="3763891" y="279622"/>
                  </a:cubicBezTo>
                  <a:cubicBezTo>
                    <a:pt x="3762064" y="281449"/>
                    <a:pt x="3759585" y="282476"/>
                    <a:pt x="3757001" y="282476"/>
                  </a:cubicBezTo>
                  <a:lnTo>
                    <a:pt x="9744" y="282476"/>
                  </a:lnTo>
                  <a:cubicBezTo>
                    <a:pt x="4362" y="282476"/>
                    <a:pt x="0" y="278114"/>
                    <a:pt x="0" y="272732"/>
                  </a:cubicBezTo>
                  <a:lnTo>
                    <a:pt x="0" y="9744"/>
                  </a:lnTo>
                  <a:cubicBezTo>
                    <a:pt x="0" y="4362"/>
                    <a:pt x="4362" y="0"/>
                    <a:pt x="9744" y="0"/>
                  </a:cubicBezTo>
                  <a:close/>
                </a:path>
              </a:pathLst>
            </a:custGeom>
            <a:solidFill>
              <a:srgbClr val="FFFFFF"/>
            </a:solidFill>
            <a:ln w="38100" cap="sq">
              <a:solidFill>
                <a:srgbClr val="0A322B"/>
              </a:solidFill>
              <a:prstDash val="solid"/>
              <a:miter/>
            </a:ln>
          </p:spPr>
        </p:sp>
        <p:sp>
          <p:nvSpPr>
            <p:cNvPr id="22" name="TextBox 22"/>
            <p:cNvSpPr txBox="1"/>
            <p:nvPr/>
          </p:nvSpPr>
          <p:spPr>
            <a:xfrm>
              <a:off x="0" y="-38100"/>
              <a:ext cx="3766745"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1931598" y="3416469"/>
            <a:ext cx="14301859" cy="1072526"/>
            <a:chOff x="0" y="0"/>
            <a:chExt cx="3766745" cy="282476"/>
          </a:xfrm>
        </p:grpSpPr>
        <p:sp>
          <p:nvSpPr>
            <p:cNvPr id="24" name="Freeform 24"/>
            <p:cNvSpPr/>
            <p:nvPr/>
          </p:nvSpPr>
          <p:spPr>
            <a:xfrm>
              <a:off x="0" y="0"/>
              <a:ext cx="3766745" cy="282476"/>
            </a:xfrm>
            <a:custGeom>
              <a:avLst/>
              <a:gdLst/>
              <a:ahLst/>
              <a:cxnLst/>
              <a:rect l="l" t="t" r="r" b="b"/>
              <a:pathLst>
                <a:path w="3766745" h="282476">
                  <a:moveTo>
                    <a:pt x="9744" y="0"/>
                  </a:moveTo>
                  <a:lnTo>
                    <a:pt x="3757001" y="0"/>
                  </a:lnTo>
                  <a:cubicBezTo>
                    <a:pt x="3762382" y="0"/>
                    <a:pt x="3766745" y="4362"/>
                    <a:pt x="3766745" y="9744"/>
                  </a:cubicBezTo>
                  <a:lnTo>
                    <a:pt x="3766745" y="272732"/>
                  </a:lnTo>
                  <a:cubicBezTo>
                    <a:pt x="3766745" y="275316"/>
                    <a:pt x="3765718" y="277795"/>
                    <a:pt x="3763891" y="279622"/>
                  </a:cubicBezTo>
                  <a:cubicBezTo>
                    <a:pt x="3762064" y="281449"/>
                    <a:pt x="3759585" y="282476"/>
                    <a:pt x="3757001" y="282476"/>
                  </a:cubicBezTo>
                  <a:lnTo>
                    <a:pt x="9744" y="282476"/>
                  </a:lnTo>
                  <a:cubicBezTo>
                    <a:pt x="4362" y="282476"/>
                    <a:pt x="0" y="278114"/>
                    <a:pt x="0" y="272732"/>
                  </a:cubicBezTo>
                  <a:lnTo>
                    <a:pt x="0" y="9744"/>
                  </a:lnTo>
                  <a:cubicBezTo>
                    <a:pt x="0" y="4362"/>
                    <a:pt x="4362" y="0"/>
                    <a:pt x="9744" y="0"/>
                  </a:cubicBezTo>
                  <a:close/>
                </a:path>
              </a:pathLst>
            </a:custGeom>
            <a:solidFill>
              <a:srgbClr val="FFFFFF"/>
            </a:solidFill>
            <a:ln w="38100" cap="sq">
              <a:solidFill>
                <a:srgbClr val="0A322B"/>
              </a:solidFill>
              <a:prstDash val="solid"/>
              <a:miter/>
            </a:ln>
          </p:spPr>
        </p:sp>
        <p:sp>
          <p:nvSpPr>
            <p:cNvPr id="25" name="TextBox 25"/>
            <p:cNvSpPr txBox="1"/>
            <p:nvPr/>
          </p:nvSpPr>
          <p:spPr>
            <a:xfrm>
              <a:off x="0" y="-38100"/>
              <a:ext cx="3766745"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910175" y="6199696"/>
            <a:ext cx="14301859" cy="1072526"/>
            <a:chOff x="0" y="0"/>
            <a:chExt cx="3766745" cy="282476"/>
          </a:xfrm>
        </p:grpSpPr>
        <p:sp>
          <p:nvSpPr>
            <p:cNvPr id="27" name="Freeform 27"/>
            <p:cNvSpPr/>
            <p:nvPr/>
          </p:nvSpPr>
          <p:spPr>
            <a:xfrm>
              <a:off x="0" y="0"/>
              <a:ext cx="3766745" cy="282476"/>
            </a:xfrm>
            <a:custGeom>
              <a:avLst/>
              <a:gdLst/>
              <a:ahLst/>
              <a:cxnLst/>
              <a:rect l="l" t="t" r="r" b="b"/>
              <a:pathLst>
                <a:path w="3766745" h="282476">
                  <a:moveTo>
                    <a:pt x="9744" y="0"/>
                  </a:moveTo>
                  <a:lnTo>
                    <a:pt x="3757001" y="0"/>
                  </a:lnTo>
                  <a:cubicBezTo>
                    <a:pt x="3762382" y="0"/>
                    <a:pt x="3766745" y="4362"/>
                    <a:pt x="3766745" y="9744"/>
                  </a:cubicBezTo>
                  <a:lnTo>
                    <a:pt x="3766745" y="272732"/>
                  </a:lnTo>
                  <a:cubicBezTo>
                    <a:pt x="3766745" y="275316"/>
                    <a:pt x="3765718" y="277795"/>
                    <a:pt x="3763891" y="279622"/>
                  </a:cubicBezTo>
                  <a:cubicBezTo>
                    <a:pt x="3762064" y="281449"/>
                    <a:pt x="3759585" y="282476"/>
                    <a:pt x="3757001" y="282476"/>
                  </a:cubicBezTo>
                  <a:lnTo>
                    <a:pt x="9744" y="282476"/>
                  </a:lnTo>
                  <a:cubicBezTo>
                    <a:pt x="4362" y="282476"/>
                    <a:pt x="0" y="278114"/>
                    <a:pt x="0" y="272732"/>
                  </a:cubicBezTo>
                  <a:lnTo>
                    <a:pt x="0" y="9744"/>
                  </a:lnTo>
                  <a:cubicBezTo>
                    <a:pt x="0" y="4362"/>
                    <a:pt x="4362" y="0"/>
                    <a:pt x="9744" y="0"/>
                  </a:cubicBezTo>
                  <a:close/>
                </a:path>
              </a:pathLst>
            </a:custGeom>
            <a:solidFill>
              <a:srgbClr val="FFFFFF"/>
            </a:solidFill>
            <a:ln w="38100" cap="sq">
              <a:solidFill>
                <a:srgbClr val="0A322B"/>
              </a:solidFill>
              <a:prstDash val="solid"/>
              <a:miter/>
            </a:ln>
          </p:spPr>
        </p:sp>
        <p:sp>
          <p:nvSpPr>
            <p:cNvPr id="28" name="TextBox 28"/>
            <p:cNvSpPr txBox="1"/>
            <p:nvPr/>
          </p:nvSpPr>
          <p:spPr>
            <a:xfrm>
              <a:off x="0" y="-38100"/>
              <a:ext cx="3766745"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931598" y="2082862"/>
            <a:ext cx="1102388" cy="1072526"/>
            <a:chOff x="0" y="0"/>
            <a:chExt cx="290341" cy="282476"/>
          </a:xfrm>
        </p:grpSpPr>
        <p:sp>
          <p:nvSpPr>
            <p:cNvPr id="30" name="Freeform 30"/>
            <p:cNvSpPr/>
            <p:nvPr/>
          </p:nvSpPr>
          <p:spPr>
            <a:xfrm>
              <a:off x="0" y="0"/>
              <a:ext cx="290341" cy="282476"/>
            </a:xfrm>
            <a:custGeom>
              <a:avLst/>
              <a:gdLst/>
              <a:ahLst/>
              <a:cxnLst/>
              <a:rect l="l" t="t" r="r" b="b"/>
              <a:pathLst>
                <a:path w="290341" h="282476">
                  <a:moveTo>
                    <a:pt x="126412" y="0"/>
                  </a:moveTo>
                  <a:lnTo>
                    <a:pt x="163929" y="0"/>
                  </a:lnTo>
                  <a:cubicBezTo>
                    <a:pt x="233744" y="0"/>
                    <a:pt x="290341" y="56596"/>
                    <a:pt x="290341" y="126412"/>
                  </a:cubicBezTo>
                  <a:lnTo>
                    <a:pt x="290341" y="156064"/>
                  </a:lnTo>
                  <a:cubicBezTo>
                    <a:pt x="290341" y="225880"/>
                    <a:pt x="233744" y="282476"/>
                    <a:pt x="163929" y="282476"/>
                  </a:cubicBezTo>
                  <a:lnTo>
                    <a:pt x="126412" y="282476"/>
                  </a:lnTo>
                  <a:cubicBezTo>
                    <a:pt x="56596" y="282476"/>
                    <a:pt x="0" y="225880"/>
                    <a:pt x="0" y="156064"/>
                  </a:cubicBezTo>
                  <a:lnTo>
                    <a:pt x="0" y="126412"/>
                  </a:lnTo>
                  <a:cubicBezTo>
                    <a:pt x="0" y="56596"/>
                    <a:pt x="56596" y="0"/>
                    <a:pt x="126412" y="0"/>
                  </a:cubicBezTo>
                  <a:close/>
                </a:path>
              </a:pathLst>
            </a:custGeom>
            <a:solidFill>
              <a:srgbClr val="FCDE8C"/>
            </a:solidFill>
            <a:ln w="38100" cap="sq">
              <a:solidFill>
                <a:srgbClr val="0A322B"/>
              </a:solidFill>
              <a:prstDash val="solid"/>
              <a:miter/>
            </a:ln>
          </p:spPr>
        </p:sp>
        <p:sp>
          <p:nvSpPr>
            <p:cNvPr id="31" name="TextBox 31"/>
            <p:cNvSpPr txBox="1"/>
            <p:nvPr/>
          </p:nvSpPr>
          <p:spPr>
            <a:xfrm>
              <a:off x="0" y="-38100"/>
              <a:ext cx="290341"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2" name="Group 32"/>
          <p:cNvGrpSpPr/>
          <p:nvPr/>
        </p:nvGrpSpPr>
        <p:grpSpPr>
          <a:xfrm>
            <a:off x="1888752" y="4755695"/>
            <a:ext cx="14344705" cy="1072526"/>
            <a:chOff x="0" y="0"/>
            <a:chExt cx="3778029" cy="282476"/>
          </a:xfrm>
        </p:grpSpPr>
        <p:sp>
          <p:nvSpPr>
            <p:cNvPr id="33" name="Freeform 33"/>
            <p:cNvSpPr/>
            <p:nvPr/>
          </p:nvSpPr>
          <p:spPr>
            <a:xfrm>
              <a:off x="0" y="0"/>
              <a:ext cx="3778029" cy="282476"/>
            </a:xfrm>
            <a:custGeom>
              <a:avLst/>
              <a:gdLst/>
              <a:ahLst/>
              <a:cxnLst/>
              <a:rect l="l" t="t" r="r" b="b"/>
              <a:pathLst>
                <a:path w="3778029" h="282476">
                  <a:moveTo>
                    <a:pt x="9715" y="0"/>
                  </a:moveTo>
                  <a:lnTo>
                    <a:pt x="3768315" y="0"/>
                  </a:lnTo>
                  <a:cubicBezTo>
                    <a:pt x="3770891" y="0"/>
                    <a:pt x="3773362" y="1024"/>
                    <a:pt x="3775184" y="2845"/>
                  </a:cubicBezTo>
                  <a:cubicBezTo>
                    <a:pt x="3777006" y="4667"/>
                    <a:pt x="3778029" y="7138"/>
                    <a:pt x="3778029" y="9715"/>
                  </a:cubicBezTo>
                  <a:lnTo>
                    <a:pt x="3778029" y="272761"/>
                  </a:lnTo>
                  <a:cubicBezTo>
                    <a:pt x="3778029" y="275338"/>
                    <a:pt x="3777006" y="277809"/>
                    <a:pt x="3775184" y="279631"/>
                  </a:cubicBezTo>
                  <a:cubicBezTo>
                    <a:pt x="3773362" y="281452"/>
                    <a:pt x="3770891" y="282476"/>
                    <a:pt x="3768315" y="282476"/>
                  </a:cubicBezTo>
                  <a:lnTo>
                    <a:pt x="9715" y="282476"/>
                  </a:lnTo>
                  <a:cubicBezTo>
                    <a:pt x="7138" y="282476"/>
                    <a:pt x="4667" y="281452"/>
                    <a:pt x="2845" y="279631"/>
                  </a:cubicBezTo>
                  <a:cubicBezTo>
                    <a:pt x="1024" y="277809"/>
                    <a:pt x="0" y="275338"/>
                    <a:pt x="0" y="272761"/>
                  </a:cubicBezTo>
                  <a:lnTo>
                    <a:pt x="0" y="9715"/>
                  </a:lnTo>
                  <a:cubicBezTo>
                    <a:pt x="0" y="7138"/>
                    <a:pt x="1024" y="4667"/>
                    <a:pt x="2845" y="2845"/>
                  </a:cubicBezTo>
                  <a:cubicBezTo>
                    <a:pt x="4667" y="1024"/>
                    <a:pt x="7138" y="0"/>
                    <a:pt x="9715" y="0"/>
                  </a:cubicBezTo>
                  <a:close/>
                </a:path>
              </a:pathLst>
            </a:custGeom>
            <a:solidFill>
              <a:srgbClr val="FFFFFF"/>
            </a:solidFill>
            <a:ln w="38100" cap="sq">
              <a:solidFill>
                <a:srgbClr val="0A322B"/>
              </a:solidFill>
              <a:prstDash val="solid"/>
              <a:miter/>
            </a:ln>
          </p:spPr>
        </p:sp>
        <p:sp>
          <p:nvSpPr>
            <p:cNvPr id="34" name="TextBox 34"/>
            <p:cNvSpPr txBox="1"/>
            <p:nvPr/>
          </p:nvSpPr>
          <p:spPr>
            <a:xfrm>
              <a:off x="0" y="-38100"/>
              <a:ext cx="3778029"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1888752" y="4755695"/>
            <a:ext cx="1102388" cy="1072526"/>
            <a:chOff x="0" y="0"/>
            <a:chExt cx="290341" cy="282476"/>
          </a:xfrm>
        </p:grpSpPr>
        <p:sp>
          <p:nvSpPr>
            <p:cNvPr id="36" name="Freeform 36"/>
            <p:cNvSpPr/>
            <p:nvPr/>
          </p:nvSpPr>
          <p:spPr>
            <a:xfrm>
              <a:off x="0" y="0"/>
              <a:ext cx="290341" cy="282476"/>
            </a:xfrm>
            <a:custGeom>
              <a:avLst/>
              <a:gdLst/>
              <a:ahLst/>
              <a:cxnLst/>
              <a:rect l="l" t="t" r="r" b="b"/>
              <a:pathLst>
                <a:path w="290341" h="282476">
                  <a:moveTo>
                    <a:pt x="126412" y="0"/>
                  </a:moveTo>
                  <a:lnTo>
                    <a:pt x="163929" y="0"/>
                  </a:lnTo>
                  <a:cubicBezTo>
                    <a:pt x="233744" y="0"/>
                    <a:pt x="290341" y="56596"/>
                    <a:pt x="290341" y="126412"/>
                  </a:cubicBezTo>
                  <a:lnTo>
                    <a:pt x="290341" y="156064"/>
                  </a:lnTo>
                  <a:cubicBezTo>
                    <a:pt x="290341" y="225880"/>
                    <a:pt x="233744" y="282476"/>
                    <a:pt x="163929" y="282476"/>
                  </a:cubicBezTo>
                  <a:lnTo>
                    <a:pt x="126412" y="282476"/>
                  </a:lnTo>
                  <a:cubicBezTo>
                    <a:pt x="56596" y="282476"/>
                    <a:pt x="0" y="225880"/>
                    <a:pt x="0" y="156064"/>
                  </a:cubicBezTo>
                  <a:lnTo>
                    <a:pt x="0" y="126412"/>
                  </a:lnTo>
                  <a:cubicBezTo>
                    <a:pt x="0" y="56596"/>
                    <a:pt x="56596" y="0"/>
                    <a:pt x="126412" y="0"/>
                  </a:cubicBezTo>
                  <a:close/>
                </a:path>
              </a:pathLst>
            </a:custGeom>
            <a:solidFill>
              <a:srgbClr val="FCDE8C"/>
            </a:solidFill>
            <a:ln w="38100" cap="sq">
              <a:solidFill>
                <a:srgbClr val="0A322B"/>
              </a:solidFill>
              <a:prstDash val="solid"/>
              <a:miter/>
            </a:ln>
          </p:spPr>
        </p:sp>
        <p:sp>
          <p:nvSpPr>
            <p:cNvPr id="37" name="TextBox 37"/>
            <p:cNvSpPr txBox="1"/>
            <p:nvPr/>
          </p:nvSpPr>
          <p:spPr>
            <a:xfrm>
              <a:off x="0" y="-38100"/>
              <a:ext cx="290341"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8" name="Group 38"/>
          <p:cNvGrpSpPr/>
          <p:nvPr/>
        </p:nvGrpSpPr>
        <p:grpSpPr>
          <a:xfrm>
            <a:off x="1931598" y="3416469"/>
            <a:ext cx="1102388" cy="1072526"/>
            <a:chOff x="0" y="0"/>
            <a:chExt cx="290341" cy="282476"/>
          </a:xfrm>
        </p:grpSpPr>
        <p:sp>
          <p:nvSpPr>
            <p:cNvPr id="39" name="Freeform 39"/>
            <p:cNvSpPr/>
            <p:nvPr/>
          </p:nvSpPr>
          <p:spPr>
            <a:xfrm>
              <a:off x="0" y="0"/>
              <a:ext cx="290341" cy="282476"/>
            </a:xfrm>
            <a:custGeom>
              <a:avLst/>
              <a:gdLst/>
              <a:ahLst/>
              <a:cxnLst/>
              <a:rect l="l" t="t" r="r" b="b"/>
              <a:pathLst>
                <a:path w="290341" h="282476">
                  <a:moveTo>
                    <a:pt x="126412" y="0"/>
                  </a:moveTo>
                  <a:lnTo>
                    <a:pt x="163929" y="0"/>
                  </a:lnTo>
                  <a:cubicBezTo>
                    <a:pt x="233744" y="0"/>
                    <a:pt x="290341" y="56596"/>
                    <a:pt x="290341" y="126412"/>
                  </a:cubicBezTo>
                  <a:lnTo>
                    <a:pt x="290341" y="156064"/>
                  </a:lnTo>
                  <a:cubicBezTo>
                    <a:pt x="290341" y="225880"/>
                    <a:pt x="233744" y="282476"/>
                    <a:pt x="163929" y="282476"/>
                  </a:cubicBezTo>
                  <a:lnTo>
                    <a:pt x="126412" y="282476"/>
                  </a:lnTo>
                  <a:cubicBezTo>
                    <a:pt x="56596" y="282476"/>
                    <a:pt x="0" y="225880"/>
                    <a:pt x="0" y="156064"/>
                  </a:cubicBezTo>
                  <a:lnTo>
                    <a:pt x="0" y="126412"/>
                  </a:lnTo>
                  <a:cubicBezTo>
                    <a:pt x="0" y="56596"/>
                    <a:pt x="56596" y="0"/>
                    <a:pt x="126412" y="0"/>
                  </a:cubicBezTo>
                  <a:close/>
                </a:path>
              </a:pathLst>
            </a:custGeom>
            <a:solidFill>
              <a:srgbClr val="FCDE8C"/>
            </a:solidFill>
            <a:ln w="38100" cap="sq">
              <a:solidFill>
                <a:srgbClr val="0A322B"/>
              </a:solidFill>
              <a:prstDash val="solid"/>
              <a:miter/>
            </a:ln>
          </p:spPr>
        </p:sp>
        <p:sp>
          <p:nvSpPr>
            <p:cNvPr id="40" name="TextBox 40"/>
            <p:cNvSpPr txBox="1"/>
            <p:nvPr/>
          </p:nvSpPr>
          <p:spPr>
            <a:xfrm>
              <a:off x="0" y="-38100"/>
              <a:ext cx="290341" cy="32057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41" name="TextBox 41"/>
          <p:cNvSpPr txBox="1"/>
          <p:nvPr/>
        </p:nvSpPr>
        <p:spPr>
          <a:xfrm>
            <a:off x="1028700" y="940069"/>
            <a:ext cx="12516282" cy="738944"/>
          </a:xfrm>
          <a:prstGeom prst="rect">
            <a:avLst/>
          </a:prstGeom>
        </p:spPr>
        <p:txBody>
          <a:bodyPr lIns="0" tIns="0" rIns="0" bIns="0" rtlCol="0" anchor="t">
            <a:spAutoFit/>
          </a:bodyPr>
          <a:lstStyle/>
          <a:p>
            <a:pPr marL="0" lvl="0" indent="0" algn="l">
              <a:lnSpc>
                <a:spcPts val="6163"/>
              </a:lnSpc>
              <a:spcBef>
                <a:spcPct val="0"/>
              </a:spcBef>
            </a:pPr>
            <a:r>
              <a:rPr lang="en-US" sz="6557" spc="-327">
                <a:solidFill>
                  <a:srgbClr val="FCDE8C"/>
                </a:solidFill>
                <a:latin typeface="210 클레이토이"/>
                <a:ea typeface="210 클레이토이"/>
                <a:cs typeface="210 클레이토이"/>
                <a:sym typeface="210 클레이토이"/>
              </a:rPr>
              <a:t>RUMUS</a:t>
            </a:r>
            <a:r>
              <a:rPr lang="en-US" sz="6557" u="none" strike="noStrike" spc="-327">
                <a:solidFill>
                  <a:srgbClr val="FCDE8C"/>
                </a:solidFill>
                <a:latin typeface="210 클레이토이"/>
                <a:ea typeface="210 클레이토이"/>
                <a:cs typeface="210 클레이토이"/>
                <a:sym typeface="210 클레이토이"/>
              </a:rPr>
              <a:t>AN MASALAH</a:t>
            </a:r>
          </a:p>
          <a:p>
            <a:pPr marL="0" lvl="0" indent="0" algn="l">
              <a:lnSpc>
                <a:spcPts val="70"/>
              </a:lnSpc>
              <a:spcBef>
                <a:spcPct val="0"/>
              </a:spcBef>
            </a:pPr>
            <a:endParaRPr lang="en-US" sz="6557" u="none" strike="noStrike" spc="-327">
              <a:solidFill>
                <a:srgbClr val="FCDE8C"/>
              </a:solidFill>
              <a:latin typeface="210 클레이토이"/>
              <a:ea typeface="210 클레이토이"/>
              <a:cs typeface="210 클레이토이"/>
              <a:sym typeface="210 클레이토이"/>
            </a:endParaRPr>
          </a:p>
        </p:txBody>
      </p:sp>
      <p:sp>
        <p:nvSpPr>
          <p:cNvPr id="42" name="TextBox 42"/>
          <p:cNvSpPr txBox="1"/>
          <p:nvPr/>
        </p:nvSpPr>
        <p:spPr>
          <a:xfrm>
            <a:off x="1728029" y="2346075"/>
            <a:ext cx="1509526" cy="650875"/>
          </a:xfrm>
          <a:prstGeom prst="rect">
            <a:avLst/>
          </a:prstGeom>
        </p:spPr>
        <p:txBody>
          <a:bodyPr lIns="0" tIns="0" rIns="0" bIns="0" rtlCol="0" anchor="t">
            <a:spAutoFit/>
          </a:bodyPr>
          <a:lstStyle/>
          <a:p>
            <a:pPr marL="0" lvl="0" indent="0" algn="ctr">
              <a:lnSpc>
                <a:spcPts val="4700"/>
              </a:lnSpc>
              <a:spcBef>
                <a:spcPct val="0"/>
              </a:spcBef>
            </a:pPr>
            <a:r>
              <a:rPr lang="en-US" sz="5000" spc="-250">
                <a:solidFill>
                  <a:srgbClr val="231F20"/>
                </a:solidFill>
                <a:latin typeface="210 클레이토이"/>
                <a:ea typeface="210 클레이토이"/>
                <a:cs typeface="210 클레이토이"/>
                <a:sym typeface="210 클레이토이"/>
              </a:rPr>
              <a:t>1.</a:t>
            </a:r>
          </a:p>
        </p:txBody>
      </p:sp>
      <p:sp>
        <p:nvSpPr>
          <p:cNvPr id="43" name="TextBox 43"/>
          <p:cNvSpPr txBox="1"/>
          <p:nvPr/>
        </p:nvSpPr>
        <p:spPr>
          <a:xfrm>
            <a:off x="3131961" y="2246504"/>
            <a:ext cx="14127339" cy="737235"/>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Sistem dirancang dengan pembagian class sesuai fungsinya agar data buku, anggota, dan transaksi dapat dikelola secara terstruktur.</a:t>
            </a:r>
          </a:p>
        </p:txBody>
      </p:sp>
      <p:sp>
        <p:nvSpPr>
          <p:cNvPr id="44" name="TextBox 44"/>
          <p:cNvSpPr txBox="1"/>
          <p:nvPr/>
        </p:nvSpPr>
        <p:spPr>
          <a:xfrm>
            <a:off x="1728029" y="3679682"/>
            <a:ext cx="1509526" cy="650875"/>
          </a:xfrm>
          <a:prstGeom prst="rect">
            <a:avLst/>
          </a:prstGeom>
        </p:spPr>
        <p:txBody>
          <a:bodyPr lIns="0" tIns="0" rIns="0" bIns="0" rtlCol="0" anchor="t">
            <a:spAutoFit/>
          </a:bodyPr>
          <a:lstStyle/>
          <a:p>
            <a:pPr marL="0" lvl="0" indent="0" algn="ctr">
              <a:lnSpc>
                <a:spcPts val="4700"/>
              </a:lnSpc>
              <a:spcBef>
                <a:spcPct val="0"/>
              </a:spcBef>
            </a:pPr>
            <a:r>
              <a:rPr lang="en-US" sz="5000" spc="-250">
                <a:solidFill>
                  <a:srgbClr val="231F20"/>
                </a:solidFill>
                <a:latin typeface="210 클레이토이"/>
                <a:ea typeface="210 클레이토이"/>
                <a:cs typeface="210 클레이토이"/>
                <a:sym typeface="210 클레이토이"/>
              </a:rPr>
              <a:t>2.</a:t>
            </a:r>
          </a:p>
        </p:txBody>
      </p:sp>
      <p:grpSp>
        <p:nvGrpSpPr>
          <p:cNvPr id="45" name="Group 45"/>
          <p:cNvGrpSpPr/>
          <p:nvPr/>
        </p:nvGrpSpPr>
        <p:grpSpPr>
          <a:xfrm>
            <a:off x="1910175" y="7538922"/>
            <a:ext cx="14301859" cy="1072526"/>
            <a:chOff x="0" y="0"/>
            <a:chExt cx="3766745" cy="282476"/>
          </a:xfrm>
        </p:grpSpPr>
        <p:sp>
          <p:nvSpPr>
            <p:cNvPr id="46" name="Freeform 46"/>
            <p:cNvSpPr/>
            <p:nvPr/>
          </p:nvSpPr>
          <p:spPr>
            <a:xfrm>
              <a:off x="0" y="0"/>
              <a:ext cx="3766745" cy="282476"/>
            </a:xfrm>
            <a:custGeom>
              <a:avLst/>
              <a:gdLst/>
              <a:ahLst/>
              <a:cxnLst/>
              <a:rect l="l" t="t" r="r" b="b"/>
              <a:pathLst>
                <a:path w="3766745" h="282476">
                  <a:moveTo>
                    <a:pt x="9744" y="0"/>
                  </a:moveTo>
                  <a:lnTo>
                    <a:pt x="3757001" y="0"/>
                  </a:lnTo>
                  <a:cubicBezTo>
                    <a:pt x="3762382" y="0"/>
                    <a:pt x="3766745" y="4362"/>
                    <a:pt x="3766745" y="9744"/>
                  </a:cubicBezTo>
                  <a:lnTo>
                    <a:pt x="3766745" y="272732"/>
                  </a:lnTo>
                  <a:cubicBezTo>
                    <a:pt x="3766745" y="275316"/>
                    <a:pt x="3765718" y="277795"/>
                    <a:pt x="3763891" y="279622"/>
                  </a:cubicBezTo>
                  <a:cubicBezTo>
                    <a:pt x="3762064" y="281449"/>
                    <a:pt x="3759585" y="282476"/>
                    <a:pt x="3757001" y="282476"/>
                  </a:cubicBezTo>
                  <a:lnTo>
                    <a:pt x="9744" y="282476"/>
                  </a:lnTo>
                  <a:cubicBezTo>
                    <a:pt x="4362" y="282476"/>
                    <a:pt x="0" y="278114"/>
                    <a:pt x="0" y="272732"/>
                  </a:cubicBezTo>
                  <a:lnTo>
                    <a:pt x="0" y="9744"/>
                  </a:lnTo>
                  <a:cubicBezTo>
                    <a:pt x="0" y="4362"/>
                    <a:pt x="4362" y="0"/>
                    <a:pt x="9744" y="0"/>
                  </a:cubicBezTo>
                  <a:close/>
                </a:path>
              </a:pathLst>
            </a:custGeom>
            <a:solidFill>
              <a:srgbClr val="FFFFFF"/>
            </a:solidFill>
            <a:ln w="38100" cap="sq">
              <a:solidFill>
                <a:srgbClr val="0A322B"/>
              </a:solidFill>
              <a:prstDash val="solid"/>
              <a:miter/>
            </a:ln>
          </p:spPr>
        </p:sp>
        <p:sp>
          <p:nvSpPr>
            <p:cNvPr id="47" name="TextBox 47"/>
            <p:cNvSpPr txBox="1"/>
            <p:nvPr/>
          </p:nvSpPr>
          <p:spPr>
            <a:xfrm>
              <a:off x="0" y="-38100"/>
              <a:ext cx="3766745"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8" name="Group 48"/>
          <p:cNvGrpSpPr/>
          <p:nvPr/>
        </p:nvGrpSpPr>
        <p:grpSpPr>
          <a:xfrm>
            <a:off x="1931598" y="6199696"/>
            <a:ext cx="1102388" cy="1072526"/>
            <a:chOff x="0" y="0"/>
            <a:chExt cx="290341" cy="282476"/>
          </a:xfrm>
        </p:grpSpPr>
        <p:sp>
          <p:nvSpPr>
            <p:cNvPr id="49" name="Freeform 49"/>
            <p:cNvSpPr/>
            <p:nvPr/>
          </p:nvSpPr>
          <p:spPr>
            <a:xfrm>
              <a:off x="0" y="0"/>
              <a:ext cx="290341" cy="282476"/>
            </a:xfrm>
            <a:custGeom>
              <a:avLst/>
              <a:gdLst/>
              <a:ahLst/>
              <a:cxnLst/>
              <a:rect l="l" t="t" r="r" b="b"/>
              <a:pathLst>
                <a:path w="290341" h="282476">
                  <a:moveTo>
                    <a:pt x="126412" y="0"/>
                  </a:moveTo>
                  <a:lnTo>
                    <a:pt x="163929" y="0"/>
                  </a:lnTo>
                  <a:cubicBezTo>
                    <a:pt x="233744" y="0"/>
                    <a:pt x="290341" y="56596"/>
                    <a:pt x="290341" y="126412"/>
                  </a:cubicBezTo>
                  <a:lnTo>
                    <a:pt x="290341" y="156064"/>
                  </a:lnTo>
                  <a:cubicBezTo>
                    <a:pt x="290341" y="225880"/>
                    <a:pt x="233744" y="282476"/>
                    <a:pt x="163929" y="282476"/>
                  </a:cubicBezTo>
                  <a:lnTo>
                    <a:pt x="126412" y="282476"/>
                  </a:lnTo>
                  <a:cubicBezTo>
                    <a:pt x="56596" y="282476"/>
                    <a:pt x="0" y="225880"/>
                    <a:pt x="0" y="156064"/>
                  </a:cubicBezTo>
                  <a:lnTo>
                    <a:pt x="0" y="126412"/>
                  </a:lnTo>
                  <a:cubicBezTo>
                    <a:pt x="0" y="56596"/>
                    <a:pt x="56596" y="0"/>
                    <a:pt x="126412" y="0"/>
                  </a:cubicBezTo>
                  <a:close/>
                </a:path>
              </a:pathLst>
            </a:custGeom>
            <a:solidFill>
              <a:srgbClr val="FCDE8C"/>
            </a:solidFill>
            <a:ln w="38100" cap="sq">
              <a:solidFill>
                <a:srgbClr val="0A322B"/>
              </a:solidFill>
              <a:prstDash val="solid"/>
              <a:miter/>
            </a:ln>
          </p:spPr>
        </p:sp>
        <p:sp>
          <p:nvSpPr>
            <p:cNvPr id="50" name="TextBox 50"/>
            <p:cNvSpPr txBox="1"/>
            <p:nvPr/>
          </p:nvSpPr>
          <p:spPr>
            <a:xfrm>
              <a:off x="0" y="-38100"/>
              <a:ext cx="290341" cy="32057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1" name="Group 51"/>
          <p:cNvGrpSpPr/>
          <p:nvPr/>
        </p:nvGrpSpPr>
        <p:grpSpPr>
          <a:xfrm>
            <a:off x="1931598" y="7529397"/>
            <a:ext cx="1102388" cy="1072526"/>
            <a:chOff x="0" y="0"/>
            <a:chExt cx="290341" cy="282476"/>
          </a:xfrm>
        </p:grpSpPr>
        <p:sp>
          <p:nvSpPr>
            <p:cNvPr id="52" name="Freeform 52"/>
            <p:cNvSpPr/>
            <p:nvPr/>
          </p:nvSpPr>
          <p:spPr>
            <a:xfrm>
              <a:off x="0" y="0"/>
              <a:ext cx="290341" cy="282476"/>
            </a:xfrm>
            <a:custGeom>
              <a:avLst/>
              <a:gdLst/>
              <a:ahLst/>
              <a:cxnLst/>
              <a:rect l="l" t="t" r="r" b="b"/>
              <a:pathLst>
                <a:path w="290341" h="282476">
                  <a:moveTo>
                    <a:pt x="126412" y="0"/>
                  </a:moveTo>
                  <a:lnTo>
                    <a:pt x="163929" y="0"/>
                  </a:lnTo>
                  <a:cubicBezTo>
                    <a:pt x="233744" y="0"/>
                    <a:pt x="290341" y="56596"/>
                    <a:pt x="290341" y="126412"/>
                  </a:cubicBezTo>
                  <a:lnTo>
                    <a:pt x="290341" y="156064"/>
                  </a:lnTo>
                  <a:cubicBezTo>
                    <a:pt x="290341" y="225880"/>
                    <a:pt x="233744" y="282476"/>
                    <a:pt x="163929" y="282476"/>
                  </a:cubicBezTo>
                  <a:lnTo>
                    <a:pt x="126412" y="282476"/>
                  </a:lnTo>
                  <a:cubicBezTo>
                    <a:pt x="56596" y="282476"/>
                    <a:pt x="0" y="225880"/>
                    <a:pt x="0" y="156064"/>
                  </a:cubicBezTo>
                  <a:lnTo>
                    <a:pt x="0" y="126412"/>
                  </a:lnTo>
                  <a:cubicBezTo>
                    <a:pt x="0" y="56596"/>
                    <a:pt x="56596" y="0"/>
                    <a:pt x="126412" y="0"/>
                  </a:cubicBezTo>
                  <a:close/>
                </a:path>
              </a:pathLst>
            </a:custGeom>
            <a:solidFill>
              <a:srgbClr val="FCDE8C"/>
            </a:solidFill>
            <a:ln w="38100" cap="sq">
              <a:solidFill>
                <a:srgbClr val="0A322B"/>
              </a:solidFill>
              <a:prstDash val="solid"/>
              <a:miter/>
            </a:ln>
          </p:spPr>
        </p:sp>
        <p:sp>
          <p:nvSpPr>
            <p:cNvPr id="53" name="TextBox 53"/>
            <p:cNvSpPr txBox="1"/>
            <p:nvPr/>
          </p:nvSpPr>
          <p:spPr>
            <a:xfrm>
              <a:off x="0" y="-38100"/>
              <a:ext cx="290341" cy="32057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4" name="TextBox 54"/>
          <p:cNvSpPr txBox="1"/>
          <p:nvPr/>
        </p:nvSpPr>
        <p:spPr>
          <a:xfrm>
            <a:off x="1685183" y="7805622"/>
            <a:ext cx="1509526" cy="650875"/>
          </a:xfrm>
          <a:prstGeom prst="rect">
            <a:avLst/>
          </a:prstGeom>
        </p:spPr>
        <p:txBody>
          <a:bodyPr lIns="0" tIns="0" rIns="0" bIns="0" rtlCol="0" anchor="t">
            <a:spAutoFit/>
          </a:bodyPr>
          <a:lstStyle/>
          <a:p>
            <a:pPr marL="0" lvl="0" indent="0" algn="ctr">
              <a:lnSpc>
                <a:spcPts val="4700"/>
              </a:lnSpc>
              <a:spcBef>
                <a:spcPct val="0"/>
              </a:spcBef>
            </a:pPr>
            <a:r>
              <a:rPr lang="en-US" sz="5000" spc="-250">
                <a:solidFill>
                  <a:srgbClr val="231F20"/>
                </a:solidFill>
                <a:latin typeface="210 클레이토이"/>
                <a:ea typeface="210 클레이토이"/>
                <a:cs typeface="210 클레이토이"/>
                <a:sym typeface="210 클레이토이"/>
              </a:rPr>
              <a:t>5.</a:t>
            </a:r>
          </a:p>
        </p:txBody>
      </p:sp>
      <p:sp>
        <p:nvSpPr>
          <p:cNvPr id="55" name="TextBox 55"/>
          <p:cNvSpPr txBox="1"/>
          <p:nvPr/>
        </p:nvSpPr>
        <p:spPr>
          <a:xfrm>
            <a:off x="1728029" y="5018908"/>
            <a:ext cx="1509526" cy="650875"/>
          </a:xfrm>
          <a:prstGeom prst="rect">
            <a:avLst/>
          </a:prstGeom>
        </p:spPr>
        <p:txBody>
          <a:bodyPr lIns="0" tIns="0" rIns="0" bIns="0" rtlCol="0" anchor="t">
            <a:spAutoFit/>
          </a:bodyPr>
          <a:lstStyle/>
          <a:p>
            <a:pPr marL="0" lvl="0" indent="0" algn="ctr">
              <a:lnSpc>
                <a:spcPts val="4700"/>
              </a:lnSpc>
              <a:spcBef>
                <a:spcPct val="0"/>
              </a:spcBef>
            </a:pPr>
            <a:r>
              <a:rPr lang="en-US" sz="5000" spc="-250">
                <a:solidFill>
                  <a:srgbClr val="231F20"/>
                </a:solidFill>
                <a:latin typeface="210 클레이토이"/>
                <a:ea typeface="210 클레이토이"/>
                <a:cs typeface="210 클레이토이"/>
                <a:sym typeface="210 클레이토이"/>
              </a:rPr>
              <a:t>3.</a:t>
            </a:r>
          </a:p>
        </p:txBody>
      </p:sp>
      <p:sp>
        <p:nvSpPr>
          <p:cNvPr id="56" name="TextBox 56"/>
          <p:cNvSpPr txBox="1"/>
          <p:nvPr/>
        </p:nvSpPr>
        <p:spPr>
          <a:xfrm>
            <a:off x="1728029" y="6475921"/>
            <a:ext cx="1509526" cy="650875"/>
          </a:xfrm>
          <a:prstGeom prst="rect">
            <a:avLst/>
          </a:prstGeom>
        </p:spPr>
        <p:txBody>
          <a:bodyPr lIns="0" tIns="0" rIns="0" bIns="0" rtlCol="0" anchor="t">
            <a:spAutoFit/>
          </a:bodyPr>
          <a:lstStyle/>
          <a:p>
            <a:pPr marL="0" lvl="0" indent="0" algn="ctr">
              <a:lnSpc>
                <a:spcPts val="4700"/>
              </a:lnSpc>
              <a:spcBef>
                <a:spcPct val="0"/>
              </a:spcBef>
            </a:pPr>
            <a:r>
              <a:rPr lang="en-US" sz="5000" spc="-250">
                <a:solidFill>
                  <a:srgbClr val="231F20"/>
                </a:solidFill>
                <a:latin typeface="210 클레이토이"/>
                <a:ea typeface="210 클레이토이"/>
                <a:cs typeface="210 클레이토이"/>
                <a:sym typeface="210 클레이토이"/>
              </a:rPr>
              <a:t>4.</a:t>
            </a:r>
          </a:p>
        </p:txBody>
      </p:sp>
      <p:sp>
        <p:nvSpPr>
          <p:cNvPr id="57" name="TextBox 57"/>
          <p:cNvSpPr txBox="1"/>
          <p:nvPr/>
        </p:nvSpPr>
        <p:spPr>
          <a:xfrm>
            <a:off x="3237555" y="3589492"/>
            <a:ext cx="12335226" cy="737235"/>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Konsep OOP diterapkan melalui enkapsulasi, pewarisan, dan polimorfisme pada class utama sistem.</a:t>
            </a:r>
          </a:p>
        </p:txBody>
      </p:sp>
      <p:sp>
        <p:nvSpPr>
          <p:cNvPr id="58" name="TextBox 58"/>
          <p:cNvSpPr txBox="1"/>
          <p:nvPr/>
        </p:nvSpPr>
        <p:spPr>
          <a:xfrm>
            <a:off x="3241108" y="7710372"/>
            <a:ext cx="12341560" cy="737235"/>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Data transaksi disimpan secara terpusat sehingga dapat digunakan untuk menampilkan laporan dan riwayat peminjaman.</a:t>
            </a:r>
          </a:p>
        </p:txBody>
      </p:sp>
      <p:sp>
        <p:nvSpPr>
          <p:cNvPr id="59" name="TextBox 59"/>
          <p:cNvSpPr txBox="1"/>
          <p:nvPr/>
        </p:nvSpPr>
        <p:spPr>
          <a:xfrm>
            <a:off x="3194708" y="6389561"/>
            <a:ext cx="12559852" cy="737235"/>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Perhitungan denda dilakukan secara otomatis berdasarkan selisih tanggal pengembalian.</a:t>
            </a:r>
          </a:p>
        </p:txBody>
      </p:sp>
      <p:sp>
        <p:nvSpPr>
          <p:cNvPr id="60" name="TextBox 60"/>
          <p:cNvSpPr txBox="1"/>
          <p:nvPr/>
        </p:nvSpPr>
        <p:spPr>
          <a:xfrm>
            <a:off x="3131961" y="4955720"/>
            <a:ext cx="12335226" cy="737235"/>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Antarmuka pengguna dibuat menggunakan GUI yang sederhana dan mudah dipahami oleh petugas maupun anggota.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27077" y="530153"/>
            <a:ext cx="18942155" cy="1523168"/>
            <a:chOff x="0" y="0"/>
            <a:chExt cx="4988880" cy="401164"/>
          </a:xfrm>
        </p:grpSpPr>
        <p:sp>
          <p:nvSpPr>
            <p:cNvPr id="12" name="Freeform 12"/>
            <p:cNvSpPr/>
            <p:nvPr/>
          </p:nvSpPr>
          <p:spPr>
            <a:xfrm>
              <a:off x="0" y="0"/>
              <a:ext cx="4988880" cy="401164"/>
            </a:xfrm>
            <a:custGeom>
              <a:avLst/>
              <a:gdLst/>
              <a:ahLst/>
              <a:cxnLst/>
              <a:rect l="l" t="t" r="r" b="b"/>
              <a:pathLst>
                <a:path w="4988880" h="401164">
                  <a:moveTo>
                    <a:pt x="0" y="0"/>
                  </a:moveTo>
                  <a:lnTo>
                    <a:pt x="4988880" y="0"/>
                  </a:lnTo>
                  <a:lnTo>
                    <a:pt x="4988880" y="401164"/>
                  </a:lnTo>
                  <a:lnTo>
                    <a:pt x="0" y="401164"/>
                  </a:lnTo>
                  <a:close/>
                </a:path>
              </a:pathLst>
            </a:custGeom>
            <a:solidFill>
              <a:srgbClr val="26B096"/>
            </a:solidFill>
          </p:spPr>
        </p:sp>
        <p:sp>
          <p:nvSpPr>
            <p:cNvPr id="13" name="TextBox 13"/>
            <p:cNvSpPr txBox="1"/>
            <p:nvPr/>
          </p:nvSpPr>
          <p:spPr>
            <a:xfrm>
              <a:off x="0" y="-38100"/>
              <a:ext cx="4988880" cy="439264"/>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215254" y="1072662"/>
            <a:ext cx="13565317" cy="784360"/>
          </a:xfrm>
          <a:prstGeom prst="rect">
            <a:avLst/>
          </a:prstGeom>
        </p:spPr>
        <p:txBody>
          <a:bodyPr lIns="0" tIns="0" rIns="0" bIns="0" rtlCol="0" anchor="t">
            <a:spAutoFit/>
          </a:bodyPr>
          <a:lstStyle/>
          <a:p>
            <a:pPr marL="0" lvl="0" indent="0" algn="ctr">
              <a:lnSpc>
                <a:spcPts val="5788"/>
              </a:lnSpc>
              <a:spcBef>
                <a:spcPct val="0"/>
              </a:spcBef>
            </a:pPr>
            <a:r>
              <a:rPr lang="en-US" sz="6157" spc="-307">
                <a:solidFill>
                  <a:srgbClr val="FCDE8C"/>
                </a:solidFill>
                <a:latin typeface="210 클레이토이"/>
                <a:ea typeface="210 클레이토이"/>
                <a:cs typeface="210 클레이토이"/>
                <a:sym typeface="210 클레이토이"/>
              </a:rPr>
              <a:t>T</a:t>
            </a:r>
            <a:r>
              <a:rPr lang="en-US" sz="6157" u="none" strike="noStrike" spc="-307">
                <a:solidFill>
                  <a:srgbClr val="FCDE8C"/>
                </a:solidFill>
                <a:latin typeface="210 클레이토이"/>
                <a:ea typeface="210 클레이토이"/>
                <a:cs typeface="210 클레이토이"/>
                <a:sym typeface="210 클레이토이"/>
              </a:rPr>
              <a:t>UJUAN PENELITIAN</a:t>
            </a:r>
          </a:p>
        </p:txBody>
      </p:sp>
      <p:grpSp>
        <p:nvGrpSpPr>
          <p:cNvPr id="15" name="Group 15"/>
          <p:cNvGrpSpPr/>
          <p:nvPr/>
        </p:nvGrpSpPr>
        <p:grpSpPr>
          <a:xfrm>
            <a:off x="1200629" y="2928877"/>
            <a:ext cx="15859668" cy="6644625"/>
            <a:chOff x="0" y="0"/>
            <a:chExt cx="4177032" cy="1750025"/>
          </a:xfrm>
        </p:grpSpPr>
        <p:sp>
          <p:nvSpPr>
            <p:cNvPr id="16" name="Freeform 16"/>
            <p:cNvSpPr/>
            <p:nvPr/>
          </p:nvSpPr>
          <p:spPr>
            <a:xfrm>
              <a:off x="0" y="0"/>
              <a:ext cx="4177032" cy="1750025"/>
            </a:xfrm>
            <a:custGeom>
              <a:avLst/>
              <a:gdLst/>
              <a:ahLst/>
              <a:cxnLst/>
              <a:rect l="l" t="t" r="r" b="b"/>
              <a:pathLst>
                <a:path w="4177032" h="1750025">
                  <a:moveTo>
                    <a:pt x="8787" y="0"/>
                  </a:moveTo>
                  <a:lnTo>
                    <a:pt x="4168245" y="0"/>
                  </a:lnTo>
                  <a:cubicBezTo>
                    <a:pt x="4173098" y="0"/>
                    <a:pt x="4177032" y="3934"/>
                    <a:pt x="4177032" y="8787"/>
                  </a:cubicBezTo>
                  <a:lnTo>
                    <a:pt x="4177032" y="1741238"/>
                  </a:lnTo>
                  <a:cubicBezTo>
                    <a:pt x="4177032" y="1743568"/>
                    <a:pt x="4176106" y="1745803"/>
                    <a:pt x="4174458" y="1747451"/>
                  </a:cubicBezTo>
                  <a:cubicBezTo>
                    <a:pt x="4172810" y="1749099"/>
                    <a:pt x="4170576" y="1750025"/>
                    <a:pt x="4168245" y="1750025"/>
                  </a:cubicBezTo>
                  <a:lnTo>
                    <a:pt x="8787" y="1750025"/>
                  </a:lnTo>
                  <a:cubicBezTo>
                    <a:pt x="6456" y="1750025"/>
                    <a:pt x="4221" y="1749099"/>
                    <a:pt x="2574" y="1747451"/>
                  </a:cubicBezTo>
                  <a:cubicBezTo>
                    <a:pt x="926" y="1745803"/>
                    <a:pt x="0" y="1743568"/>
                    <a:pt x="0" y="1741238"/>
                  </a:cubicBezTo>
                  <a:lnTo>
                    <a:pt x="0" y="8787"/>
                  </a:lnTo>
                  <a:cubicBezTo>
                    <a:pt x="0" y="3934"/>
                    <a:pt x="3934" y="0"/>
                    <a:pt x="8787" y="0"/>
                  </a:cubicBezTo>
                  <a:close/>
                </a:path>
              </a:pathLst>
            </a:custGeom>
            <a:solidFill>
              <a:srgbClr val="FFFFFF"/>
            </a:solidFill>
            <a:ln w="38100" cap="sq">
              <a:solidFill>
                <a:srgbClr val="0A322B"/>
              </a:solidFill>
              <a:prstDash val="solid"/>
              <a:miter/>
            </a:ln>
          </p:spPr>
        </p:sp>
        <p:sp>
          <p:nvSpPr>
            <p:cNvPr id="17" name="TextBox 17"/>
            <p:cNvSpPr txBox="1"/>
            <p:nvPr/>
          </p:nvSpPr>
          <p:spPr>
            <a:xfrm>
              <a:off x="0" y="-38100"/>
              <a:ext cx="4177032" cy="17881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2215254" y="3306757"/>
            <a:ext cx="13565317" cy="1000507"/>
          </a:xfrm>
          <a:prstGeom prst="rect">
            <a:avLst/>
          </a:prstGeom>
        </p:spPr>
        <p:txBody>
          <a:bodyPr lIns="0" tIns="0" rIns="0" bIns="0" rtlCol="0" anchor="t">
            <a:spAutoFit/>
          </a:bodyPr>
          <a:lstStyle/>
          <a:p>
            <a:pPr algn="just">
              <a:lnSpc>
                <a:spcPts val="4001"/>
              </a:lnSpc>
            </a:pPr>
            <a:r>
              <a:rPr lang="en-US" sz="2899" spc="-144">
                <a:solidFill>
                  <a:srgbClr val="231F20"/>
                </a:solidFill>
                <a:latin typeface="Quicksand"/>
                <a:ea typeface="Quicksand"/>
                <a:cs typeface="Quicksand"/>
                <a:sym typeface="Quicksand"/>
              </a:rPr>
              <a:t>Merancang dan membangun sistem informasi perpustakaan yang mampu mengelola data buku, anggota, peminjaman, dan pengembalian secara efisien.</a:t>
            </a:r>
          </a:p>
        </p:txBody>
      </p:sp>
      <p:sp>
        <p:nvSpPr>
          <p:cNvPr id="19" name="AutoShape 19"/>
          <p:cNvSpPr/>
          <p:nvPr/>
        </p:nvSpPr>
        <p:spPr>
          <a:xfrm>
            <a:off x="1903922" y="4579875"/>
            <a:ext cx="13876648" cy="0"/>
          </a:xfrm>
          <a:prstGeom prst="line">
            <a:avLst/>
          </a:prstGeom>
          <a:ln w="19050" cap="flat">
            <a:solidFill>
              <a:srgbClr val="000000"/>
            </a:solidFill>
            <a:prstDash val="solid"/>
            <a:headEnd type="none" w="sm" len="sm"/>
            <a:tailEnd type="none" w="sm" len="sm"/>
          </a:ln>
        </p:spPr>
      </p:sp>
      <p:sp>
        <p:nvSpPr>
          <p:cNvPr id="20" name="TextBox 20"/>
          <p:cNvSpPr txBox="1"/>
          <p:nvPr/>
        </p:nvSpPr>
        <p:spPr>
          <a:xfrm>
            <a:off x="2215254" y="4881942"/>
            <a:ext cx="13565317" cy="1000507"/>
          </a:xfrm>
          <a:prstGeom prst="rect">
            <a:avLst/>
          </a:prstGeom>
        </p:spPr>
        <p:txBody>
          <a:bodyPr lIns="0" tIns="0" rIns="0" bIns="0" rtlCol="0" anchor="t">
            <a:spAutoFit/>
          </a:bodyPr>
          <a:lstStyle/>
          <a:p>
            <a:pPr algn="just">
              <a:lnSpc>
                <a:spcPts val="4001"/>
              </a:lnSpc>
            </a:pPr>
            <a:r>
              <a:rPr lang="en-US" sz="2899" spc="-144">
                <a:solidFill>
                  <a:srgbClr val="231F20"/>
                </a:solidFill>
                <a:latin typeface="Quicksand"/>
                <a:ea typeface="Quicksand"/>
                <a:cs typeface="Quicksand"/>
                <a:sym typeface="Quicksand"/>
              </a:rPr>
              <a:t>Menerapkan konsep Object-Oriented Programming, meliputi enkapsulasi, pewarisan, dan polimorfisme, dalam pengembangan aplikasi.</a:t>
            </a:r>
          </a:p>
        </p:txBody>
      </p:sp>
      <p:sp>
        <p:nvSpPr>
          <p:cNvPr id="21" name="AutoShape 21"/>
          <p:cNvSpPr/>
          <p:nvPr/>
        </p:nvSpPr>
        <p:spPr>
          <a:xfrm>
            <a:off x="1903922" y="6241665"/>
            <a:ext cx="13876648" cy="0"/>
          </a:xfrm>
          <a:prstGeom prst="line">
            <a:avLst/>
          </a:prstGeom>
          <a:ln w="19050" cap="flat">
            <a:solidFill>
              <a:srgbClr val="000000"/>
            </a:solidFill>
            <a:prstDash val="solid"/>
            <a:headEnd type="none" w="sm" len="sm"/>
            <a:tailEnd type="none" w="sm" len="sm"/>
          </a:ln>
        </p:spPr>
      </p:sp>
      <p:sp>
        <p:nvSpPr>
          <p:cNvPr id="22" name="TextBox 22"/>
          <p:cNvSpPr txBox="1"/>
          <p:nvPr/>
        </p:nvSpPr>
        <p:spPr>
          <a:xfrm>
            <a:off x="2215254" y="6460740"/>
            <a:ext cx="13565317" cy="1000507"/>
          </a:xfrm>
          <a:prstGeom prst="rect">
            <a:avLst/>
          </a:prstGeom>
        </p:spPr>
        <p:txBody>
          <a:bodyPr lIns="0" tIns="0" rIns="0" bIns="0" rtlCol="0" anchor="t">
            <a:spAutoFit/>
          </a:bodyPr>
          <a:lstStyle/>
          <a:p>
            <a:pPr algn="just">
              <a:lnSpc>
                <a:spcPts val="4001"/>
              </a:lnSpc>
            </a:pPr>
            <a:r>
              <a:rPr lang="en-US" sz="2899" spc="-144">
                <a:solidFill>
                  <a:srgbClr val="231F20"/>
                </a:solidFill>
                <a:latin typeface="Quicksand"/>
                <a:ea typeface="Quicksand"/>
                <a:cs typeface="Quicksand"/>
                <a:sym typeface="Quicksand"/>
              </a:rPr>
              <a:t>Mengimplementasikan perhitungan denda secara otomatis pada pengembalian buku yang melewati batas waktu.</a:t>
            </a:r>
          </a:p>
        </p:txBody>
      </p:sp>
      <p:sp>
        <p:nvSpPr>
          <p:cNvPr id="23" name="AutoShape 23"/>
          <p:cNvSpPr/>
          <p:nvPr/>
        </p:nvSpPr>
        <p:spPr>
          <a:xfrm>
            <a:off x="2059588" y="7899396"/>
            <a:ext cx="13876648" cy="0"/>
          </a:xfrm>
          <a:prstGeom prst="line">
            <a:avLst/>
          </a:prstGeom>
          <a:ln w="19050" cap="flat">
            <a:solidFill>
              <a:srgbClr val="000000"/>
            </a:solidFill>
            <a:prstDash val="solid"/>
            <a:headEnd type="none" w="sm" len="sm"/>
            <a:tailEnd type="none" w="sm" len="sm"/>
          </a:ln>
        </p:spPr>
      </p:sp>
      <p:sp>
        <p:nvSpPr>
          <p:cNvPr id="24" name="TextBox 24"/>
          <p:cNvSpPr txBox="1"/>
          <p:nvPr/>
        </p:nvSpPr>
        <p:spPr>
          <a:xfrm>
            <a:off x="2215254" y="8118471"/>
            <a:ext cx="13565317" cy="1000507"/>
          </a:xfrm>
          <a:prstGeom prst="rect">
            <a:avLst/>
          </a:prstGeom>
        </p:spPr>
        <p:txBody>
          <a:bodyPr lIns="0" tIns="0" rIns="0" bIns="0" rtlCol="0" anchor="t">
            <a:spAutoFit/>
          </a:bodyPr>
          <a:lstStyle/>
          <a:p>
            <a:pPr algn="just">
              <a:lnSpc>
                <a:spcPts val="4001"/>
              </a:lnSpc>
            </a:pPr>
            <a:r>
              <a:rPr lang="en-US" sz="2899" spc="-144">
                <a:solidFill>
                  <a:srgbClr val="231F20"/>
                </a:solidFill>
                <a:latin typeface="Quicksand"/>
                <a:ea typeface="Quicksand"/>
                <a:cs typeface="Quicksand"/>
                <a:sym typeface="Quicksand"/>
              </a:rPr>
              <a:t>Menyediakan fitur riwayat dan pelaporan transaksi untuk mendukung administrasi perpustakaan.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31720" y="387073"/>
            <a:ext cx="16127580" cy="9264184"/>
            <a:chOff x="0" y="0"/>
            <a:chExt cx="4247593" cy="2439950"/>
          </a:xfrm>
        </p:grpSpPr>
        <p:sp>
          <p:nvSpPr>
            <p:cNvPr id="15" name="Freeform 15"/>
            <p:cNvSpPr/>
            <p:nvPr/>
          </p:nvSpPr>
          <p:spPr>
            <a:xfrm>
              <a:off x="0" y="0"/>
              <a:ext cx="4247593" cy="2439950"/>
            </a:xfrm>
            <a:custGeom>
              <a:avLst/>
              <a:gdLst/>
              <a:ahLst/>
              <a:cxnLst/>
              <a:rect l="l" t="t" r="r" b="b"/>
              <a:pathLst>
                <a:path w="4247593" h="2439950">
                  <a:moveTo>
                    <a:pt x="8641" y="0"/>
                  </a:moveTo>
                  <a:lnTo>
                    <a:pt x="4238952" y="0"/>
                  </a:lnTo>
                  <a:cubicBezTo>
                    <a:pt x="4241244" y="0"/>
                    <a:pt x="4243442" y="910"/>
                    <a:pt x="4245062" y="2531"/>
                  </a:cubicBezTo>
                  <a:cubicBezTo>
                    <a:pt x="4246683" y="4151"/>
                    <a:pt x="4247593" y="6349"/>
                    <a:pt x="4247593" y="8641"/>
                  </a:cubicBezTo>
                  <a:lnTo>
                    <a:pt x="4247593" y="2431309"/>
                  </a:lnTo>
                  <a:cubicBezTo>
                    <a:pt x="4247593" y="2433600"/>
                    <a:pt x="4246683" y="2435798"/>
                    <a:pt x="4245062" y="2437419"/>
                  </a:cubicBezTo>
                  <a:cubicBezTo>
                    <a:pt x="4243442" y="2439039"/>
                    <a:pt x="4241244" y="2439950"/>
                    <a:pt x="4238952" y="2439950"/>
                  </a:cubicBezTo>
                  <a:lnTo>
                    <a:pt x="8641" y="2439950"/>
                  </a:lnTo>
                  <a:cubicBezTo>
                    <a:pt x="3869" y="2439950"/>
                    <a:pt x="0" y="2436081"/>
                    <a:pt x="0" y="2431309"/>
                  </a:cubicBezTo>
                  <a:lnTo>
                    <a:pt x="0" y="8641"/>
                  </a:lnTo>
                  <a:cubicBezTo>
                    <a:pt x="0" y="6349"/>
                    <a:pt x="910" y="4151"/>
                    <a:pt x="2531" y="2531"/>
                  </a:cubicBezTo>
                  <a:cubicBezTo>
                    <a:pt x="4151" y="910"/>
                    <a:pt x="6349" y="0"/>
                    <a:pt x="8641"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247593" cy="247805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269961" y="1673844"/>
            <a:ext cx="16336250" cy="7228872"/>
            <a:chOff x="0" y="0"/>
            <a:chExt cx="4302551" cy="1903900"/>
          </a:xfrm>
        </p:grpSpPr>
        <p:sp>
          <p:nvSpPr>
            <p:cNvPr id="18" name="Freeform 18"/>
            <p:cNvSpPr/>
            <p:nvPr/>
          </p:nvSpPr>
          <p:spPr>
            <a:xfrm>
              <a:off x="0" y="0"/>
              <a:ext cx="4302551" cy="1903900"/>
            </a:xfrm>
            <a:custGeom>
              <a:avLst/>
              <a:gdLst/>
              <a:ahLst/>
              <a:cxnLst/>
              <a:rect l="l" t="t" r="r" b="b"/>
              <a:pathLst>
                <a:path w="4302551" h="1903900">
                  <a:moveTo>
                    <a:pt x="8530" y="0"/>
                  </a:moveTo>
                  <a:lnTo>
                    <a:pt x="4294021" y="0"/>
                  </a:lnTo>
                  <a:cubicBezTo>
                    <a:pt x="4296283" y="0"/>
                    <a:pt x="4298453" y="899"/>
                    <a:pt x="4300053" y="2498"/>
                  </a:cubicBezTo>
                  <a:cubicBezTo>
                    <a:pt x="4301653" y="4098"/>
                    <a:pt x="4302551" y="6268"/>
                    <a:pt x="4302551" y="8530"/>
                  </a:cubicBezTo>
                  <a:lnTo>
                    <a:pt x="4302551" y="1895370"/>
                  </a:lnTo>
                  <a:cubicBezTo>
                    <a:pt x="4302551" y="1900081"/>
                    <a:pt x="4298732" y="1903900"/>
                    <a:pt x="4294021" y="1903900"/>
                  </a:cubicBezTo>
                  <a:lnTo>
                    <a:pt x="8530" y="1903900"/>
                  </a:lnTo>
                  <a:cubicBezTo>
                    <a:pt x="3819" y="1903900"/>
                    <a:pt x="0" y="1900081"/>
                    <a:pt x="0" y="1895370"/>
                  </a:cubicBezTo>
                  <a:lnTo>
                    <a:pt x="0" y="8530"/>
                  </a:lnTo>
                  <a:cubicBezTo>
                    <a:pt x="0" y="3819"/>
                    <a:pt x="3819" y="0"/>
                    <a:pt x="8530" y="0"/>
                  </a:cubicBezTo>
                  <a:close/>
                </a:path>
              </a:pathLst>
            </a:custGeom>
            <a:solidFill>
              <a:srgbClr val="FFFFFF"/>
            </a:solidFill>
            <a:ln w="38100" cap="sq">
              <a:solidFill>
                <a:srgbClr val="0A322B"/>
              </a:solidFill>
              <a:prstDash val="solid"/>
              <a:miter/>
            </a:ln>
          </p:spPr>
        </p:sp>
        <p:sp>
          <p:nvSpPr>
            <p:cNvPr id="19" name="TextBox 19"/>
            <p:cNvSpPr txBox="1"/>
            <p:nvPr/>
          </p:nvSpPr>
          <p:spPr>
            <a:xfrm>
              <a:off x="0" y="-38100"/>
              <a:ext cx="4302551" cy="19420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399875" y="833286"/>
            <a:ext cx="12242130" cy="713622"/>
          </a:xfrm>
          <a:prstGeom prst="rect">
            <a:avLst/>
          </a:prstGeom>
        </p:spPr>
        <p:txBody>
          <a:bodyPr lIns="0" tIns="0" rIns="0" bIns="0" rtlCol="0" anchor="t">
            <a:spAutoFit/>
          </a:bodyPr>
          <a:lstStyle/>
          <a:p>
            <a:pPr marL="0" lvl="0" indent="0" algn="l">
              <a:lnSpc>
                <a:spcPts val="5130"/>
              </a:lnSpc>
              <a:spcBef>
                <a:spcPct val="0"/>
              </a:spcBef>
            </a:pPr>
            <a:r>
              <a:rPr lang="en-US" sz="5457" spc="-272">
                <a:solidFill>
                  <a:srgbClr val="FCDE8C"/>
                </a:solidFill>
                <a:latin typeface="210 클레이토이"/>
                <a:ea typeface="210 클레이토이"/>
                <a:cs typeface="210 클레이토이"/>
                <a:sym typeface="210 클레이토이"/>
              </a:rPr>
              <a:t>M</a:t>
            </a:r>
            <a:r>
              <a:rPr lang="en-US" sz="5457" u="none" strike="noStrike" spc="-272">
                <a:solidFill>
                  <a:srgbClr val="FCDE8C"/>
                </a:solidFill>
                <a:latin typeface="210 클레이토이"/>
                <a:ea typeface="210 클레이토이"/>
                <a:cs typeface="210 클레이토이"/>
                <a:sym typeface="210 클레이토이"/>
              </a:rPr>
              <a:t>ANFAAT PENELITIAN</a:t>
            </a:r>
          </a:p>
        </p:txBody>
      </p:sp>
      <p:sp>
        <p:nvSpPr>
          <p:cNvPr id="21" name="TextBox 21"/>
          <p:cNvSpPr txBox="1"/>
          <p:nvPr/>
        </p:nvSpPr>
        <p:spPr>
          <a:xfrm>
            <a:off x="1522218" y="3340479"/>
            <a:ext cx="14224351" cy="1678686"/>
          </a:xfrm>
          <a:prstGeom prst="rect">
            <a:avLst/>
          </a:prstGeom>
        </p:spPr>
        <p:txBody>
          <a:bodyPr lIns="0" tIns="0" rIns="0" bIns="0" rtlCol="0" anchor="t">
            <a:spAutoFit/>
          </a:bodyPr>
          <a:lstStyle/>
          <a:p>
            <a:pPr marL="0" lvl="0" indent="0" algn="l">
              <a:lnSpc>
                <a:spcPts val="3311"/>
              </a:lnSpc>
            </a:pPr>
            <a:r>
              <a:rPr lang="en-US" sz="2399" spc="-119">
                <a:solidFill>
                  <a:srgbClr val="231F20"/>
                </a:solidFill>
                <a:latin typeface="Quicksand"/>
                <a:ea typeface="Quicksand"/>
                <a:cs typeface="Quicksand"/>
                <a:sym typeface="Quicksand"/>
              </a:rPr>
              <a:t>Aplikasi ini membantu perpustakaan dalam mengelola data buku, anggota, dan transaksi peminjaman secara terstruktur melalui sistem terkomputerisasi. Proses peminjaman dan pengembalian dapat dipantau dengan jelas, status buku selalu terupdate, serta data peminjaman aktif dan riwayat transaksi dapat dilihat dengan mudah oleh petugas.</a:t>
            </a:r>
          </a:p>
        </p:txBody>
      </p:sp>
      <p:sp>
        <p:nvSpPr>
          <p:cNvPr id="22" name="TextBox 22"/>
          <p:cNvSpPr txBox="1"/>
          <p:nvPr/>
        </p:nvSpPr>
        <p:spPr>
          <a:xfrm>
            <a:off x="1028700" y="2474217"/>
            <a:ext cx="6057746"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BAGI PERPUSTAKAAN</a:t>
            </a:r>
          </a:p>
        </p:txBody>
      </p:sp>
      <p:sp>
        <p:nvSpPr>
          <p:cNvPr id="23" name="TextBox 23"/>
          <p:cNvSpPr txBox="1"/>
          <p:nvPr/>
        </p:nvSpPr>
        <p:spPr>
          <a:xfrm>
            <a:off x="1028700" y="6133485"/>
            <a:ext cx="6057746"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BAGI ANGGOTA</a:t>
            </a:r>
          </a:p>
        </p:txBody>
      </p:sp>
      <p:sp>
        <p:nvSpPr>
          <p:cNvPr id="24" name="AutoShape 24"/>
          <p:cNvSpPr/>
          <p:nvPr/>
        </p:nvSpPr>
        <p:spPr>
          <a:xfrm flipV="1">
            <a:off x="1218345" y="5600137"/>
            <a:ext cx="14832096" cy="9525"/>
          </a:xfrm>
          <a:prstGeom prst="line">
            <a:avLst/>
          </a:prstGeom>
          <a:ln w="19050" cap="flat">
            <a:solidFill>
              <a:srgbClr val="000000"/>
            </a:solidFill>
            <a:prstDash val="solid"/>
            <a:headEnd type="none" w="sm" len="sm"/>
            <a:tailEnd type="none" w="sm" len="sm"/>
          </a:ln>
        </p:spPr>
      </p:sp>
      <p:sp>
        <p:nvSpPr>
          <p:cNvPr id="25" name="TextBox 25"/>
          <p:cNvSpPr txBox="1"/>
          <p:nvPr/>
        </p:nvSpPr>
        <p:spPr>
          <a:xfrm>
            <a:off x="1522218" y="6901909"/>
            <a:ext cx="14224351" cy="1259586"/>
          </a:xfrm>
          <a:prstGeom prst="rect">
            <a:avLst/>
          </a:prstGeom>
        </p:spPr>
        <p:txBody>
          <a:bodyPr lIns="0" tIns="0" rIns="0" bIns="0" rtlCol="0" anchor="t">
            <a:spAutoFit/>
          </a:bodyPr>
          <a:lstStyle/>
          <a:p>
            <a:pPr marL="0" lvl="0" indent="0" algn="l">
              <a:lnSpc>
                <a:spcPts val="3311"/>
              </a:lnSpc>
            </a:pPr>
            <a:r>
              <a:rPr lang="en-US" sz="2399" spc="-119">
                <a:solidFill>
                  <a:srgbClr val="231F20"/>
                </a:solidFill>
                <a:latin typeface="Quicksand"/>
                <a:ea typeface="Quicksand"/>
                <a:cs typeface="Quicksand"/>
                <a:sym typeface="Quicksand"/>
              </a:rPr>
              <a:t>Anggota dapat mencari buku yang tersedia, melakukan peminjaman dan pengembalian secara lebih praktis, serta melihat riwayat peminjaman beserta informasi denda jika terjadi keterlambatan. Hal ini membuat proses peminjaman menjadi lebih cepat dan transparan.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269768" y="1159295"/>
            <a:ext cx="18827536" cy="1716553"/>
            <a:chOff x="0" y="0"/>
            <a:chExt cx="4958693" cy="452096"/>
          </a:xfrm>
        </p:grpSpPr>
        <p:sp>
          <p:nvSpPr>
            <p:cNvPr id="12" name="Freeform 12"/>
            <p:cNvSpPr/>
            <p:nvPr/>
          </p:nvSpPr>
          <p:spPr>
            <a:xfrm>
              <a:off x="0" y="0"/>
              <a:ext cx="4958693" cy="452096"/>
            </a:xfrm>
            <a:custGeom>
              <a:avLst/>
              <a:gdLst/>
              <a:ahLst/>
              <a:cxnLst/>
              <a:rect l="l" t="t" r="r" b="b"/>
              <a:pathLst>
                <a:path w="4958693" h="452096">
                  <a:moveTo>
                    <a:pt x="0" y="0"/>
                  </a:moveTo>
                  <a:lnTo>
                    <a:pt x="4958693" y="0"/>
                  </a:lnTo>
                  <a:lnTo>
                    <a:pt x="4958693" y="452096"/>
                  </a:lnTo>
                  <a:lnTo>
                    <a:pt x="0" y="452096"/>
                  </a:lnTo>
                  <a:close/>
                </a:path>
              </a:pathLst>
            </a:custGeom>
            <a:solidFill>
              <a:srgbClr val="26B096"/>
            </a:solidFill>
          </p:spPr>
        </p:sp>
        <p:sp>
          <p:nvSpPr>
            <p:cNvPr id="13" name="TextBox 13"/>
            <p:cNvSpPr txBox="1"/>
            <p:nvPr/>
          </p:nvSpPr>
          <p:spPr>
            <a:xfrm>
              <a:off x="0" y="-38100"/>
              <a:ext cx="4958693" cy="49019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329860" y="1646982"/>
            <a:ext cx="13565317" cy="912629"/>
          </a:xfrm>
          <a:prstGeom prst="rect">
            <a:avLst/>
          </a:prstGeom>
        </p:spPr>
        <p:txBody>
          <a:bodyPr lIns="0" tIns="0" rIns="0" bIns="0" rtlCol="0" anchor="t">
            <a:spAutoFit/>
          </a:bodyPr>
          <a:lstStyle/>
          <a:p>
            <a:pPr marL="0" lvl="0" indent="0" algn="ctr">
              <a:lnSpc>
                <a:spcPts val="6728"/>
              </a:lnSpc>
              <a:spcBef>
                <a:spcPct val="0"/>
              </a:spcBef>
            </a:pPr>
            <a:r>
              <a:rPr lang="en-US" sz="7157" spc="-357">
                <a:solidFill>
                  <a:srgbClr val="FCDE8C"/>
                </a:solidFill>
                <a:latin typeface="210 클레이토이"/>
                <a:ea typeface="210 클레이토이"/>
                <a:cs typeface="210 클레이토이"/>
                <a:sym typeface="210 클레이토이"/>
              </a:rPr>
              <a:t>RUANG LINGKUP APLIKASI</a:t>
            </a:r>
          </a:p>
        </p:txBody>
      </p:sp>
      <p:grpSp>
        <p:nvGrpSpPr>
          <p:cNvPr id="15" name="Group 15"/>
          <p:cNvGrpSpPr/>
          <p:nvPr/>
        </p:nvGrpSpPr>
        <p:grpSpPr>
          <a:xfrm>
            <a:off x="1287712" y="4069214"/>
            <a:ext cx="15649613" cy="4701955"/>
            <a:chOff x="0" y="0"/>
            <a:chExt cx="4121709" cy="1238375"/>
          </a:xfrm>
        </p:grpSpPr>
        <p:sp>
          <p:nvSpPr>
            <p:cNvPr id="16" name="Freeform 16"/>
            <p:cNvSpPr/>
            <p:nvPr/>
          </p:nvSpPr>
          <p:spPr>
            <a:xfrm>
              <a:off x="0" y="0"/>
              <a:ext cx="4121709" cy="1238375"/>
            </a:xfrm>
            <a:custGeom>
              <a:avLst/>
              <a:gdLst/>
              <a:ahLst/>
              <a:cxnLst/>
              <a:rect l="l" t="t" r="r" b="b"/>
              <a:pathLst>
                <a:path w="4121709" h="1238375">
                  <a:moveTo>
                    <a:pt x="8905" y="0"/>
                  </a:moveTo>
                  <a:lnTo>
                    <a:pt x="4112804" y="0"/>
                  </a:lnTo>
                  <a:cubicBezTo>
                    <a:pt x="4115166" y="0"/>
                    <a:pt x="4117431" y="938"/>
                    <a:pt x="4119101" y="2608"/>
                  </a:cubicBezTo>
                  <a:cubicBezTo>
                    <a:pt x="4120771" y="4278"/>
                    <a:pt x="4121709" y="6543"/>
                    <a:pt x="4121709" y="8905"/>
                  </a:cubicBezTo>
                  <a:lnTo>
                    <a:pt x="4121709" y="1229470"/>
                  </a:lnTo>
                  <a:cubicBezTo>
                    <a:pt x="4121709" y="1234388"/>
                    <a:pt x="4117722" y="1238375"/>
                    <a:pt x="4112804" y="1238375"/>
                  </a:cubicBezTo>
                  <a:lnTo>
                    <a:pt x="8905" y="1238375"/>
                  </a:lnTo>
                  <a:cubicBezTo>
                    <a:pt x="6543" y="1238375"/>
                    <a:pt x="4278" y="1237437"/>
                    <a:pt x="2608" y="1235767"/>
                  </a:cubicBezTo>
                  <a:cubicBezTo>
                    <a:pt x="938" y="1234097"/>
                    <a:pt x="0" y="1231832"/>
                    <a:pt x="0" y="1229470"/>
                  </a:cubicBezTo>
                  <a:lnTo>
                    <a:pt x="0" y="8905"/>
                  </a:lnTo>
                  <a:cubicBezTo>
                    <a:pt x="0" y="6543"/>
                    <a:pt x="938" y="4278"/>
                    <a:pt x="2608" y="2608"/>
                  </a:cubicBezTo>
                  <a:cubicBezTo>
                    <a:pt x="4278" y="938"/>
                    <a:pt x="6543" y="0"/>
                    <a:pt x="8905" y="0"/>
                  </a:cubicBezTo>
                  <a:close/>
                </a:path>
              </a:pathLst>
            </a:custGeom>
            <a:solidFill>
              <a:srgbClr val="FFFFFF"/>
            </a:solidFill>
            <a:ln w="38100" cap="sq">
              <a:solidFill>
                <a:srgbClr val="0A322B"/>
              </a:solidFill>
              <a:prstDash val="solid"/>
              <a:miter/>
            </a:ln>
          </p:spPr>
        </p:sp>
        <p:sp>
          <p:nvSpPr>
            <p:cNvPr id="17" name="TextBox 17"/>
            <p:cNvSpPr txBox="1"/>
            <p:nvPr/>
          </p:nvSpPr>
          <p:spPr>
            <a:xfrm>
              <a:off x="0" y="-38100"/>
              <a:ext cx="4121709" cy="127647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1889461" y="4881714"/>
            <a:ext cx="15047864" cy="3019806"/>
          </a:xfrm>
          <a:prstGeom prst="rect">
            <a:avLst/>
          </a:prstGeom>
        </p:spPr>
        <p:txBody>
          <a:bodyPr lIns="0" tIns="0" rIns="0" bIns="0" rtlCol="0" anchor="t">
            <a:spAutoFit/>
          </a:bodyPr>
          <a:lstStyle/>
          <a:p>
            <a:pPr marL="0" lvl="0" indent="0" algn="l">
              <a:lnSpc>
                <a:spcPts val="4001"/>
              </a:lnSpc>
            </a:pPr>
            <a:r>
              <a:rPr lang="en-US" sz="2899" spc="-144">
                <a:solidFill>
                  <a:srgbClr val="231F20"/>
                </a:solidFill>
                <a:latin typeface="Quicksand"/>
                <a:ea typeface="Quicksand"/>
                <a:cs typeface="Quicksand"/>
                <a:sym typeface="Quicksand"/>
              </a:rPr>
              <a:t>Aplikasi ini dirancang untuk membantu pengelolaan peminjaman dan pengembalian buku agar lebih cepat, rapi, dan terdokumentasi dengan baik. Sistem mampu mengelola data anggota dan data buku secara terstruktur, mencatat transaksi peminjaman serta pengembalian dengan perhitungan denda otomatis, serta menyediakan riwayat transaksi yang dapat digunakan sebagai bahan laporan dan monitoring perpustakaan.</a:t>
            </a:r>
          </a:p>
          <a:p>
            <a:pPr marL="0" lvl="0" indent="0" algn="l">
              <a:lnSpc>
                <a:spcPts val="4001"/>
              </a:lnSpc>
            </a:pPr>
            <a:endParaRPr lang="en-US" sz="2899" spc="-144">
              <a:solidFill>
                <a:srgbClr val="231F20"/>
              </a:solidFill>
              <a:latin typeface="Quicksand"/>
              <a:ea typeface="Quicksand"/>
              <a:cs typeface="Quicksand"/>
              <a:sym typeface="Quicksa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01804" y="369641"/>
            <a:ext cx="16676066" cy="9722660"/>
            <a:chOff x="0" y="0"/>
            <a:chExt cx="4392050" cy="2560700"/>
          </a:xfrm>
        </p:grpSpPr>
        <p:sp>
          <p:nvSpPr>
            <p:cNvPr id="15" name="Freeform 15"/>
            <p:cNvSpPr/>
            <p:nvPr/>
          </p:nvSpPr>
          <p:spPr>
            <a:xfrm>
              <a:off x="0" y="0"/>
              <a:ext cx="4392050" cy="2560700"/>
            </a:xfrm>
            <a:custGeom>
              <a:avLst/>
              <a:gdLst/>
              <a:ahLst/>
              <a:cxnLst/>
              <a:rect l="l" t="t" r="r" b="b"/>
              <a:pathLst>
                <a:path w="4392050" h="2560700">
                  <a:moveTo>
                    <a:pt x="8357" y="0"/>
                  </a:moveTo>
                  <a:lnTo>
                    <a:pt x="4383694" y="0"/>
                  </a:lnTo>
                  <a:cubicBezTo>
                    <a:pt x="4388309" y="0"/>
                    <a:pt x="4392050" y="3741"/>
                    <a:pt x="4392050" y="8357"/>
                  </a:cubicBezTo>
                  <a:lnTo>
                    <a:pt x="4392050" y="2552344"/>
                  </a:lnTo>
                  <a:cubicBezTo>
                    <a:pt x="4392050" y="2556959"/>
                    <a:pt x="4388309" y="2560700"/>
                    <a:pt x="4383694" y="2560700"/>
                  </a:cubicBezTo>
                  <a:lnTo>
                    <a:pt x="8357" y="2560700"/>
                  </a:lnTo>
                  <a:cubicBezTo>
                    <a:pt x="3741" y="2560700"/>
                    <a:pt x="0" y="2556959"/>
                    <a:pt x="0" y="2552344"/>
                  </a:cubicBezTo>
                  <a:lnTo>
                    <a:pt x="0" y="8357"/>
                  </a:lnTo>
                  <a:cubicBezTo>
                    <a:pt x="0" y="3741"/>
                    <a:pt x="3741" y="0"/>
                    <a:pt x="83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392050" cy="25988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Freeform 17"/>
          <p:cNvSpPr/>
          <p:nvPr/>
        </p:nvSpPr>
        <p:spPr>
          <a:xfrm>
            <a:off x="1304971" y="2175076"/>
            <a:ext cx="12292168" cy="1808600"/>
          </a:xfrm>
          <a:custGeom>
            <a:avLst/>
            <a:gdLst/>
            <a:ahLst/>
            <a:cxnLst/>
            <a:rect l="l" t="t" r="r" b="b"/>
            <a:pathLst>
              <a:path w="12292168" h="1808600">
                <a:moveTo>
                  <a:pt x="0" y="0"/>
                </a:moveTo>
                <a:lnTo>
                  <a:pt x="12292168" y="0"/>
                </a:lnTo>
                <a:lnTo>
                  <a:pt x="12292168" y="1808599"/>
                </a:lnTo>
                <a:lnTo>
                  <a:pt x="0" y="1808599"/>
                </a:lnTo>
                <a:lnTo>
                  <a:pt x="0" y="0"/>
                </a:lnTo>
                <a:close/>
              </a:path>
            </a:pathLst>
          </a:custGeom>
          <a:blipFill>
            <a:blip r:embed="rId4"/>
            <a:stretch>
              <a:fillRect/>
            </a:stretch>
          </a:blipFill>
        </p:spPr>
      </p:sp>
      <p:sp>
        <p:nvSpPr>
          <p:cNvPr id="18" name="Freeform 18"/>
          <p:cNvSpPr/>
          <p:nvPr/>
        </p:nvSpPr>
        <p:spPr>
          <a:xfrm>
            <a:off x="1309485" y="3831427"/>
            <a:ext cx="12298949" cy="1101868"/>
          </a:xfrm>
          <a:custGeom>
            <a:avLst/>
            <a:gdLst/>
            <a:ahLst/>
            <a:cxnLst/>
            <a:rect l="l" t="t" r="r" b="b"/>
            <a:pathLst>
              <a:path w="12298949" h="1101868">
                <a:moveTo>
                  <a:pt x="0" y="0"/>
                </a:moveTo>
                <a:lnTo>
                  <a:pt x="12298949" y="0"/>
                </a:lnTo>
                <a:lnTo>
                  <a:pt x="12298949" y="1101868"/>
                </a:lnTo>
                <a:lnTo>
                  <a:pt x="0" y="1101868"/>
                </a:lnTo>
                <a:lnTo>
                  <a:pt x="0" y="0"/>
                </a:lnTo>
                <a:close/>
              </a:path>
            </a:pathLst>
          </a:custGeom>
          <a:blipFill>
            <a:blip r:embed="rId5"/>
            <a:stretch>
              <a:fillRect/>
            </a:stretch>
          </a:blipFill>
        </p:spPr>
      </p:sp>
      <p:sp>
        <p:nvSpPr>
          <p:cNvPr id="19" name="AutoShape 19"/>
          <p:cNvSpPr/>
          <p:nvPr/>
        </p:nvSpPr>
        <p:spPr>
          <a:xfrm flipV="1">
            <a:off x="1157188" y="5269230"/>
            <a:ext cx="14832096" cy="9525"/>
          </a:xfrm>
          <a:prstGeom prst="line">
            <a:avLst/>
          </a:prstGeom>
          <a:ln w="19050" cap="flat">
            <a:solidFill>
              <a:srgbClr val="000000"/>
            </a:solidFill>
            <a:prstDash val="solid"/>
            <a:headEnd type="none" w="sm" len="sm"/>
            <a:tailEnd type="none" w="sm" len="sm"/>
          </a:ln>
        </p:spPr>
      </p:sp>
      <p:sp>
        <p:nvSpPr>
          <p:cNvPr id="20" name="Freeform 20"/>
          <p:cNvSpPr/>
          <p:nvPr/>
        </p:nvSpPr>
        <p:spPr>
          <a:xfrm>
            <a:off x="1302709" y="5459730"/>
            <a:ext cx="12294430" cy="2238217"/>
          </a:xfrm>
          <a:custGeom>
            <a:avLst/>
            <a:gdLst/>
            <a:ahLst/>
            <a:cxnLst/>
            <a:rect l="l" t="t" r="r" b="b"/>
            <a:pathLst>
              <a:path w="12294430" h="2238217">
                <a:moveTo>
                  <a:pt x="0" y="0"/>
                </a:moveTo>
                <a:lnTo>
                  <a:pt x="12294430" y="0"/>
                </a:lnTo>
                <a:lnTo>
                  <a:pt x="12294430" y="2238217"/>
                </a:lnTo>
                <a:lnTo>
                  <a:pt x="0" y="2238217"/>
                </a:lnTo>
                <a:lnTo>
                  <a:pt x="0" y="0"/>
                </a:lnTo>
                <a:close/>
              </a:path>
            </a:pathLst>
          </a:custGeom>
          <a:blipFill>
            <a:blip r:embed="rId6"/>
            <a:stretch>
              <a:fillRect/>
            </a:stretch>
          </a:blipFill>
        </p:spPr>
      </p:sp>
      <p:sp>
        <p:nvSpPr>
          <p:cNvPr id="21" name="Freeform 21"/>
          <p:cNvSpPr/>
          <p:nvPr/>
        </p:nvSpPr>
        <p:spPr>
          <a:xfrm>
            <a:off x="1304971" y="7466709"/>
            <a:ext cx="12301205" cy="1164053"/>
          </a:xfrm>
          <a:custGeom>
            <a:avLst/>
            <a:gdLst/>
            <a:ahLst/>
            <a:cxnLst/>
            <a:rect l="l" t="t" r="r" b="b"/>
            <a:pathLst>
              <a:path w="12301205" h="1164053">
                <a:moveTo>
                  <a:pt x="0" y="0"/>
                </a:moveTo>
                <a:lnTo>
                  <a:pt x="12301205" y="0"/>
                </a:lnTo>
                <a:lnTo>
                  <a:pt x="12301205" y="1164052"/>
                </a:lnTo>
                <a:lnTo>
                  <a:pt x="0" y="1164052"/>
                </a:lnTo>
                <a:lnTo>
                  <a:pt x="0" y="0"/>
                </a:lnTo>
                <a:close/>
              </a:path>
            </a:pathLst>
          </a:custGeom>
          <a:blipFill>
            <a:blip r:embed="rId7"/>
            <a:stretch>
              <a:fillRect/>
            </a:stretch>
          </a:blipFill>
        </p:spPr>
      </p:sp>
      <p:sp>
        <p:nvSpPr>
          <p:cNvPr id="22" name="Freeform 22"/>
          <p:cNvSpPr/>
          <p:nvPr/>
        </p:nvSpPr>
        <p:spPr>
          <a:xfrm>
            <a:off x="1309485" y="8574247"/>
            <a:ext cx="12296690" cy="1029100"/>
          </a:xfrm>
          <a:custGeom>
            <a:avLst/>
            <a:gdLst/>
            <a:ahLst/>
            <a:cxnLst/>
            <a:rect l="l" t="t" r="r" b="b"/>
            <a:pathLst>
              <a:path w="12296690" h="1029100">
                <a:moveTo>
                  <a:pt x="0" y="0"/>
                </a:moveTo>
                <a:lnTo>
                  <a:pt x="12296691" y="0"/>
                </a:lnTo>
                <a:lnTo>
                  <a:pt x="12296691" y="1029099"/>
                </a:lnTo>
                <a:lnTo>
                  <a:pt x="0" y="1029099"/>
                </a:lnTo>
                <a:lnTo>
                  <a:pt x="0" y="0"/>
                </a:lnTo>
                <a:close/>
              </a:path>
            </a:pathLst>
          </a:custGeom>
          <a:blipFill>
            <a:blip r:embed="rId8"/>
            <a:stretch>
              <a:fillRect/>
            </a:stretch>
          </a:blipFill>
        </p:spPr>
      </p:sp>
      <p:sp>
        <p:nvSpPr>
          <p:cNvPr id="23" name="TextBox 23"/>
          <p:cNvSpPr txBox="1"/>
          <p:nvPr/>
        </p:nvSpPr>
        <p:spPr>
          <a:xfrm>
            <a:off x="1028700" y="670878"/>
            <a:ext cx="8747912" cy="540917"/>
          </a:xfrm>
          <a:prstGeom prst="rect">
            <a:avLst/>
          </a:prstGeom>
        </p:spPr>
        <p:txBody>
          <a:bodyPr lIns="0" tIns="0" rIns="0" bIns="0" rtlCol="0" anchor="t">
            <a:spAutoFit/>
          </a:bodyPr>
          <a:lstStyle/>
          <a:p>
            <a:pPr marL="0" lvl="0" indent="0" algn="l">
              <a:lnSpc>
                <a:spcPts val="4566"/>
              </a:lnSpc>
              <a:spcBef>
                <a:spcPct val="0"/>
              </a:spcBef>
            </a:pPr>
            <a:r>
              <a:rPr lang="en-US" sz="3200" spc="-242">
                <a:solidFill>
                  <a:srgbClr val="FCDE8C"/>
                </a:solidFill>
                <a:latin typeface="210 클레이토이"/>
                <a:ea typeface="210 클레이토이"/>
                <a:cs typeface="210 클레이토이"/>
                <a:sym typeface="210 클레이토이"/>
              </a:rPr>
              <a:t>KONS</a:t>
            </a:r>
            <a:r>
              <a:rPr lang="en-US" sz="3200" u="none" strike="noStrike" spc="-242">
                <a:solidFill>
                  <a:srgbClr val="FCDE8C"/>
                </a:solidFill>
                <a:latin typeface="210 클레이토이"/>
                <a:ea typeface="210 클레이토이"/>
                <a:cs typeface="210 클레이토이"/>
                <a:sym typeface="210 클레이토이"/>
              </a:rPr>
              <a:t>EP OOP YANG DITERAPKAN</a:t>
            </a:r>
          </a:p>
        </p:txBody>
      </p:sp>
      <p:sp>
        <p:nvSpPr>
          <p:cNvPr id="24" name="TextBox 24"/>
          <p:cNvSpPr txBox="1"/>
          <p:nvPr/>
        </p:nvSpPr>
        <p:spPr>
          <a:xfrm>
            <a:off x="1304971" y="1696158"/>
            <a:ext cx="13336053" cy="478918"/>
          </a:xfrm>
          <a:prstGeom prst="rect">
            <a:avLst/>
          </a:prstGeom>
        </p:spPr>
        <p:txBody>
          <a:bodyPr lIns="0" tIns="0" rIns="0" bIns="0" rtlCol="0" anchor="t">
            <a:spAutoFit/>
          </a:bodyPr>
          <a:lstStyle/>
          <a:p>
            <a:pPr marL="0" lvl="0" indent="0" algn="l">
              <a:lnSpc>
                <a:spcPts val="3863"/>
              </a:lnSpc>
            </a:pPr>
            <a:r>
              <a:rPr lang="en-US" sz="2799" spc="-139">
                <a:solidFill>
                  <a:srgbClr val="231F20"/>
                </a:solidFill>
                <a:latin typeface="Quicksand"/>
                <a:ea typeface="Quicksand"/>
                <a:cs typeface="Quicksand"/>
                <a:sym typeface="Quicksand"/>
              </a:rPr>
              <a:t>Seluruh atribut dibuat private dan diakses melalui getter/setter untuk keamanan data</a:t>
            </a:r>
          </a:p>
        </p:txBody>
      </p:sp>
      <p:sp>
        <p:nvSpPr>
          <p:cNvPr id="25" name="TextBox 25"/>
          <p:cNvSpPr txBox="1"/>
          <p:nvPr/>
        </p:nvSpPr>
        <p:spPr>
          <a:xfrm>
            <a:off x="1157182" y="1240863"/>
            <a:ext cx="6787831"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ENKAPSULASI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05967" y="282170"/>
            <a:ext cx="16676066" cy="9722660"/>
            <a:chOff x="0" y="0"/>
            <a:chExt cx="4392050" cy="2560700"/>
          </a:xfrm>
        </p:grpSpPr>
        <p:sp>
          <p:nvSpPr>
            <p:cNvPr id="15" name="Freeform 15"/>
            <p:cNvSpPr/>
            <p:nvPr/>
          </p:nvSpPr>
          <p:spPr>
            <a:xfrm>
              <a:off x="0" y="0"/>
              <a:ext cx="4392050" cy="2560700"/>
            </a:xfrm>
            <a:custGeom>
              <a:avLst/>
              <a:gdLst/>
              <a:ahLst/>
              <a:cxnLst/>
              <a:rect l="l" t="t" r="r" b="b"/>
              <a:pathLst>
                <a:path w="4392050" h="2560700">
                  <a:moveTo>
                    <a:pt x="8357" y="0"/>
                  </a:moveTo>
                  <a:lnTo>
                    <a:pt x="4383694" y="0"/>
                  </a:lnTo>
                  <a:cubicBezTo>
                    <a:pt x="4388309" y="0"/>
                    <a:pt x="4392050" y="3741"/>
                    <a:pt x="4392050" y="8357"/>
                  </a:cubicBezTo>
                  <a:lnTo>
                    <a:pt x="4392050" y="2552344"/>
                  </a:lnTo>
                  <a:cubicBezTo>
                    <a:pt x="4392050" y="2556959"/>
                    <a:pt x="4388309" y="2560700"/>
                    <a:pt x="4383694" y="2560700"/>
                  </a:cubicBezTo>
                  <a:lnTo>
                    <a:pt x="8357" y="2560700"/>
                  </a:lnTo>
                  <a:cubicBezTo>
                    <a:pt x="3741" y="2560700"/>
                    <a:pt x="0" y="2556959"/>
                    <a:pt x="0" y="2552344"/>
                  </a:cubicBezTo>
                  <a:lnTo>
                    <a:pt x="0" y="8357"/>
                  </a:lnTo>
                  <a:cubicBezTo>
                    <a:pt x="0" y="3741"/>
                    <a:pt x="3741" y="0"/>
                    <a:pt x="83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392050" cy="25988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AutoShape 17"/>
          <p:cNvSpPr/>
          <p:nvPr/>
        </p:nvSpPr>
        <p:spPr>
          <a:xfrm flipV="1">
            <a:off x="1157194" y="5366198"/>
            <a:ext cx="14832096" cy="9525"/>
          </a:xfrm>
          <a:prstGeom prst="line">
            <a:avLst/>
          </a:prstGeom>
          <a:ln w="19050" cap="flat">
            <a:solidFill>
              <a:srgbClr val="000000"/>
            </a:solidFill>
            <a:prstDash val="solid"/>
            <a:headEnd type="none" w="sm" len="sm"/>
            <a:tailEnd type="none" w="sm" len="sm"/>
          </a:ln>
        </p:spPr>
      </p:sp>
      <p:sp>
        <p:nvSpPr>
          <p:cNvPr id="18" name="Freeform 18"/>
          <p:cNvSpPr/>
          <p:nvPr/>
        </p:nvSpPr>
        <p:spPr>
          <a:xfrm>
            <a:off x="1506230" y="2205065"/>
            <a:ext cx="12321414" cy="542059"/>
          </a:xfrm>
          <a:custGeom>
            <a:avLst/>
            <a:gdLst/>
            <a:ahLst/>
            <a:cxnLst/>
            <a:rect l="l" t="t" r="r" b="b"/>
            <a:pathLst>
              <a:path w="12321414" h="542059">
                <a:moveTo>
                  <a:pt x="0" y="0"/>
                </a:moveTo>
                <a:lnTo>
                  <a:pt x="12321414" y="0"/>
                </a:lnTo>
                <a:lnTo>
                  <a:pt x="12321414" y="542058"/>
                </a:lnTo>
                <a:lnTo>
                  <a:pt x="0" y="542058"/>
                </a:lnTo>
                <a:lnTo>
                  <a:pt x="0" y="0"/>
                </a:lnTo>
                <a:close/>
              </a:path>
            </a:pathLst>
          </a:custGeom>
          <a:blipFill>
            <a:blip r:embed="rId4"/>
            <a:stretch>
              <a:fillRect/>
            </a:stretch>
          </a:blipFill>
        </p:spPr>
      </p:sp>
      <p:sp>
        <p:nvSpPr>
          <p:cNvPr id="19" name="Freeform 19"/>
          <p:cNvSpPr/>
          <p:nvPr/>
        </p:nvSpPr>
        <p:spPr>
          <a:xfrm>
            <a:off x="1506230" y="2717961"/>
            <a:ext cx="12348094" cy="1571952"/>
          </a:xfrm>
          <a:custGeom>
            <a:avLst/>
            <a:gdLst/>
            <a:ahLst/>
            <a:cxnLst/>
            <a:rect l="l" t="t" r="r" b="b"/>
            <a:pathLst>
              <a:path w="12348094" h="1571952">
                <a:moveTo>
                  <a:pt x="0" y="0"/>
                </a:moveTo>
                <a:lnTo>
                  <a:pt x="12348094" y="0"/>
                </a:lnTo>
                <a:lnTo>
                  <a:pt x="12348094" y="1571952"/>
                </a:lnTo>
                <a:lnTo>
                  <a:pt x="0" y="1571952"/>
                </a:lnTo>
                <a:lnTo>
                  <a:pt x="0" y="0"/>
                </a:lnTo>
                <a:close/>
              </a:path>
            </a:pathLst>
          </a:custGeom>
          <a:blipFill>
            <a:blip r:embed="rId5"/>
            <a:stretch>
              <a:fillRect/>
            </a:stretch>
          </a:blipFill>
        </p:spPr>
      </p:sp>
      <p:sp>
        <p:nvSpPr>
          <p:cNvPr id="20" name="Freeform 20"/>
          <p:cNvSpPr/>
          <p:nvPr/>
        </p:nvSpPr>
        <p:spPr>
          <a:xfrm>
            <a:off x="1785430" y="6231543"/>
            <a:ext cx="12319177" cy="479832"/>
          </a:xfrm>
          <a:custGeom>
            <a:avLst/>
            <a:gdLst/>
            <a:ahLst/>
            <a:cxnLst/>
            <a:rect l="l" t="t" r="r" b="b"/>
            <a:pathLst>
              <a:path w="12319177" h="479832">
                <a:moveTo>
                  <a:pt x="0" y="0"/>
                </a:moveTo>
                <a:lnTo>
                  <a:pt x="12319177" y="0"/>
                </a:lnTo>
                <a:lnTo>
                  <a:pt x="12319177" y="479833"/>
                </a:lnTo>
                <a:lnTo>
                  <a:pt x="0" y="479833"/>
                </a:lnTo>
                <a:lnTo>
                  <a:pt x="0" y="0"/>
                </a:lnTo>
                <a:close/>
              </a:path>
            </a:pathLst>
          </a:custGeom>
          <a:blipFill>
            <a:blip r:embed="rId6"/>
            <a:stretch>
              <a:fillRect/>
            </a:stretch>
          </a:blipFill>
        </p:spPr>
      </p:sp>
      <p:sp>
        <p:nvSpPr>
          <p:cNvPr id="21" name="Freeform 21"/>
          <p:cNvSpPr/>
          <p:nvPr/>
        </p:nvSpPr>
        <p:spPr>
          <a:xfrm>
            <a:off x="1814704" y="6613973"/>
            <a:ext cx="12289903" cy="1367883"/>
          </a:xfrm>
          <a:custGeom>
            <a:avLst/>
            <a:gdLst/>
            <a:ahLst/>
            <a:cxnLst/>
            <a:rect l="l" t="t" r="r" b="b"/>
            <a:pathLst>
              <a:path w="12289903" h="1367883">
                <a:moveTo>
                  <a:pt x="0" y="0"/>
                </a:moveTo>
                <a:lnTo>
                  <a:pt x="12289903" y="0"/>
                </a:lnTo>
                <a:lnTo>
                  <a:pt x="12289903" y="1367883"/>
                </a:lnTo>
                <a:lnTo>
                  <a:pt x="0" y="1367883"/>
                </a:lnTo>
                <a:lnTo>
                  <a:pt x="0" y="0"/>
                </a:lnTo>
                <a:close/>
              </a:path>
            </a:pathLst>
          </a:custGeom>
          <a:blipFill>
            <a:blip r:embed="rId7"/>
            <a:stretch>
              <a:fillRect/>
            </a:stretch>
          </a:blipFill>
        </p:spPr>
      </p:sp>
      <p:sp>
        <p:nvSpPr>
          <p:cNvPr id="22" name="TextBox 22"/>
          <p:cNvSpPr txBox="1"/>
          <p:nvPr/>
        </p:nvSpPr>
        <p:spPr>
          <a:xfrm>
            <a:off x="1506230" y="1449215"/>
            <a:ext cx="13336053" cy="478918"/>
          </a:xfrm>
          <a:prstGeom prst="rect">
            <a:avLst/>
          </a:prstGeom>
        </p:spPr>
        <p:txBody>
          <a:bodyPr lIns="0" tIns="0" rIns="0" bIns="0" rtlCol="0" anchor="t">
            <a:spAutoFit/>
          </a:bodyPr>
          <a:lstStyle/>
          <a:p>
            <a:pPr marL="0" lvl="0" indent="0" algn="l">
              <a:lnSpc>
                <a:spcPts val="3863"/>
              </a:lnSpc>
            </a:pPr>
            <a:r>
              <a:rPr lang="en-US" sz="2799" spc="-139">
                <a:solidFill>
                  <a:srgbClr val="231F20"/>
                </a:solidFill>
                <a:latin typeface="Quicksand"/>
                <a:ea typeface="Quicksand"/>
                <a:cs typeface="Quicksand"/>
                <a:sym typeface="Quicksand"/>
              </a:rPr>
              <a:t>Class Anggota dan Petugas mewarisi class User sebagai induk</a:t>
            </a:r>
          </a:p>
        </p:txBody>
      </p:sp>
      <p:sp>
        <p:nvSpPr>
          <p:cNvPr id="23" name="TextBox 23"/>
          <p:cNvSpPr txBox="1"/>
          <p:nvPr/>
        </p:nvSpPr>
        <p:spPr>
          <a:xfrm>
            <a:off x="1157188" y="716988"/>
            <a:ext cx="6787831"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INHERITANCE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05967" y="282170"/>
            <a:ext cx="16676066" cy="9722660"/>
            <a:chOff x="0" y="0"/>
            <a:chExt cx="4392050" cy="2560700"/>
          </a:xfrm>
        </p:grpSpPr>
        <p:sp>
          <p:nvSpPr>
            <p:cNvPr id="15" name="Freeform 15"/>
            <p:cNvSpPr/>
            <p:nvPr/>
          </p:nvSpPr>
          <p:spPr>
            <a:xfrm>
              <a:off x="0" y="0"/>
              <a:ext cx="4392050" cy="2560700"/>
            </a:xfrm>
            <a:custGeom>
              <a:avLst/>
              <a:gdLst/>
              <a:ahLst/>
              <a:cxnLst/>
              <a:rect l="l" t="t" r="r" b="b"/>
              <a:pathLst>
                <a:path w="4392050" h="2560700">
                  <a:moveTo>
                    <a:pt x="8357" y="0"/>
                  </a:moveTo>
                  <a:lnTo>
                    <a:pt x="4383694" y="0"/>
                  </a:lnTo>
                  <a:cubicBezTo>
                    <a:pt x="4388309" y="0"/>
                    <a:pt x="4392050" y="3741"/>
                    <a:pt x="4392050" y="8357"/>
                  </a:cubicBezTo>
                  <a:lnTo>
                    <a:pt x="4392050" y="2552344"/>
                  </a:lnTo>
                  <a:cubicBezTo>
                    <a:pt x="4392050" y="2556959"/>
                    <a:pt x="4388309" y="2560700"/>
                    <a:pt x="4383694" y="2560700"/>
                  </a:cubicBezTo>
                  <a:lnTo>
                    <a:pt x="8357" y="2560700"/>
                  </a:lnTo>
                  <a:cubicBezTo>
                    <a:pt x="3741" y="2560700"/>
                    <a:pt x="0" y="2556959"/>
                    <a:pt x="0" y="2552344"/>
                  </a:cubicBezTo>
                  <a:lnTo>
                    <a:pt x="0" y="8357"/>
                  </a:lnTo>
                  <a:cubicBezTo>
                    <a:pt x="0" y="3741"/>
                    <a:pt x="3741" y="0"/>
                    <a:pt x="83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392050" cy="25988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AutoShape 17"/>
          <p:cNvSpPr/>
          <p:nvPr/>
        </p:nvSpPr>
        <p:spPr>
          <a:xfrm flipV="1">
            <a:off x="1506236" y="4351291"/>
            <a:ext cx="14832096" cy="9525"/>
          </a:xfrm>
          <a:prstGeom prst="line">
            <a:avLst/>
          </a:prstGeom>
          <a:ln w="19050" cap="flat">
            <a:solidFill>
              <a:srgbClr val="000000"/>
            </a:solidFill>
            <a:prstDash val="solid"/>
            <a:headEnd type="none" w="sm" len="sm"/>
            <a:tailEnd type="none" w="sm" len="sm"/>
          </a:ln>
        </p:spPr>
      </p:sp>
      <p:sp>
        <p:nvSpPr>
          <p:cNvPr id="18" name="Freeform 18"/>
          <p:cNvSpPr/>
          <p:nvPr/>
        </p:nvSpPr>
        <p:spPr>
          <a:xfrm>
            <a:off x="1519842" y="1651201"/>
            <a:ext cx="11309927" cy="2516556"/>
          </a:xfrm>
          <a:custGeom>
            <a:avLst/>
            <a:gdLst/>
            <a:ahLst/>
            <a:cxnLst/>
            <a:rect l="l" t="t" r="r" b="b"/>
            <a:pathLst>
              <a:path w="11309927" h="2516556">
                <a:moveTo>
                  <a:pt x="0" y="0"/>
                </a:moveTo>
                <a:lnTo>
                  <a:pt x="11309927" y="0"/>
                </a:lnTo>
                <a:lnTo>
                  <a:pt x="11309927" y="2516556"/>
                </a:lnTo>
                <a:lnTo>
                  <a:pt x="0" y="2516556"/>
                </a:lnTo>
                <a:lnTo>
                  <a:pt x="0" y="0"/>
                </a:lnTo>
                <a:close/>
              </a:path>
            </a:pathLst>
          </a:custGeom>
          <a:blipFill>
            <a:blip r:embed="rId4"/>
            <a:stretch>
              <a:fillRect/>
            </a:stretch>
          </a:blipFill>
        </p:spPr>
      </p:sp>
      <p:sp>
        <p:nvSpPr>
          <p:cNvPr id="19" name="Freeform 19"/>
          <p:cNvSpPr/>
          <p:nvPr/>
        </p:nvSpPr>
        <p:spPr>
          <a:xfrm>
            <a:off x="1506230" y="4544349"/>
            <a:ext cx="11323539" cy="2526020"/>
          </a:xfrm>
          <a:custGeom>
            <a:avLst/>
            <a:gdLst/>
            <a:ahLst/>
            <a:cxnLst/>
            <a:rect l="l" t="t" r="r" b="b"/>
            <a:pathLst>
              <a:path w="11323539" h="2526020">
                <a:moveTo>
                  <a:pt x="0" y="0"/>
                </a:moveTo>
                <a:lnTo>
                  <a:pt x="11323539" y="0"/>
                </a:lnTo>
                <a:lnTo>
                  <a:pt x="11323539" y="2526021"/>
                </a:lnTo>
                <a:lnTo>
                  <a:pt x="0" y="2526021"/>
                </a:lnTo>
                <a:lnTo>
                  <a:pt x="0" y="0"/>
                </a:lnTo>
                <a:close/>
              </a:path>
            </a:pathLst>
          </a:custGeom>
          <a:blipFill>
            <a:blip r:embed="rId5"/>
            <a:stretch>
              <a:fillRect/>
            </a:stretch>
          </a:blipFill>
        </p:spPr>
      </p:sp>
      <p:sp>
        <p:nvSpPr>
          <p:cNvPr id="20" name="Freeform 20"/>
          <p:cNvSpPr/>
          <p:nvPr/>
        </p:nvSpPr>
        <p:spPr>
          <a:xfrm>
            <a:off x="1506236" y="7275573"/>
            <a:ext cx="11323532" cy="2523735"/>
          </a:xfrm>
          <a:custGeom>
            <a:avLst/>
            <a:gdLst/>
            <a:ahLst/>
            <a:cxnLst/>
            <a:rect l="l" t="t" r="r" b="b"/>
            <a:pathLst>
              <a:path w="11323532" h="2523735">
                <a:moveTo>
                  <a:pt x="0" y="0"/>
                </a:moveTo>
                <a:lnTo>
                  <a:pt x="11323533" y="0"/>
                </a:lnTo>
                <a:lnTo>
                  <a:pt x="11323533" y="2523735"/>
                </a:lnTo>
                <a:lnTo>
                  <a:pt x="0" y="2523735"/>
                </a:lnTo>
                <a:lnTo>
                  <a:pt x="0" y="0"/>
                </a:lnTo>
                <a:close/>
              </a:path>
            </a:pathLst>
          </a:custGeom>
          <a:blipFill>
            <a:blip r:embed="rId6"/>
            <a:stretch>
              <a:fillRect b="-89391"/>
            </a:stretch>
          </a:blipFill>
        </p:spPr>
      </p:sp>
      <p:sp>
        <p:nvSpPr>
          <p:cNvPr id="21" name="TextBox 21"/>
          <p:cNvSpPr txBox="1"/>
          <p:nvPr/>
        </p:nvSpPr>
        <p:spPr>
          <a:xfrm>
            <a:off x="1506230" y="1172283"/>
            <a:ext cx="13336053" cy="478918"/>
          </a:xfrm>
          <a:prstGeom prst="rect">
            <a:avLst/>
          </a:prstGeom>
        </p:spPr>
        <p:txBody>
          <a:bodyPr lIns="0" tIns="0" rIns="0" bIns="0" rtlCol="0" anchor="t">
            <a:spAutoFit/>
          </a:bodyPr>
          <a:lstStyle/>
          <a:p>
            <a:pPr marL="0" lvl="0" indent="0" algn="l">
              <a:lnSpc>
                <a:spcPts val="3863"/>
              </a:lnSpc>
            </a:pPr>
            <a:r>
              <a:rPr lang="en-US" sz="2799" spc="-139">
                <a:solidFill>
                  <a:srgbClr val="231F20"/>
                </a:solidFill>
                <a:latin typeface="Quicksand"/>
                <a:ea typeface="Quicksand"/>
                <a:cs typeface="Quicksand"/>
                <a:sym typeface="Quicksand"/>
              </a:rPr>
              <a:t>Method getInfo() dan displayMenu() di-override sesuai peran pengguna</a:t>
            </a:r>
          </a:p>
        </p:txBody>
      </p:sp>
      <p:sp>
        <p:nvSpPr>
          <p:cNvPr id="22" name="TextBox 22"/>
          <p:cNvSpPr txBox="1"/>
          <p:nvPr/>
        </p:nvSpPr>
        <p:spPr>
          <a:xfrm>
            <a:off x="1157188" y="716988"/>
            <a:ext cx="6787831"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POLIMORFISME</a:t>
            </a:r>
          </a:p>
        </p:txBody>
      </p:sp>
      <p:sp>
        <p:nvSpPr>
          <p:cNvPr id="23" name="AutoShape 23"/>
          <p:cNvSpPr/>
          <p:nvPr/>
        </p:nvSpPr>
        <p:spPr>
          <a:xfrm flipV="1">
            <a:off x="1506230" y="7168209"/>
            <a:ext cx="14832096" cy="9525"/>
          </a:xfrm>
          <a:prstGeom prst="line">
            <a:avLst/>
          </a:prstGeom>
          <a:ln w="19050" cap="flat">
            <a:solidFill>
              <a:srgbClr val="000000"/>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81919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15840" y="541569"/>
            <a:ext cx="16876649" cy="9321493"/>
            <a:chOff x="0" y="0"/>
            <a:chExt cx="4444879" cy="2455043"/>
          </a:xfrm>
        </p:grpSpPr>
        <p:sp>
          <p:nvSpPr>
            <p:cNvPr id="15" name="Freeform 15"/>
            <p:cNvSpPr/>
            <p:nvPr/>
          </p:nvSpPr>
          <p:spPr>
            <a:xfrm>
              <a:off x="0" y="0"/>
              <a:ext cx="4444879" cy="2455043"/>
            </a:xfrm>
            <a:custGeom>
              <a:avLst/>
              <a:gdLst/>
              <a:ahLst/>
              <a:cxnLst/>
              <a:rect l="l" t="t" r="r" b="b"/>
              <a:pathLst>
                <a:path w="4444879" h="2455043">
                  <a:moveTo>
                    <a:pt x="8257" y="0"/>
                  </a:moveTo>
                  <a:lnTo>
                    <a:pt x="4436621" y="0"/>
                  </a:lnTo>
                  <a:cubicBezTo>
                    <a:pt x="4441182" y="0"/>
                    <a:pt x="4444879" y="3697"/>
                    <a:pt x="4444879" y="8257"/>
                  </a:cubicBezTo>
                  <a:lnTo>
                    <a:pt x="4444879" y="2446786"/>
                  </a:lnTo>
                  <a:cubicBezTo>
                    <a:pt x="4444879" y="2451346"/>
                    <a:pt x="4441182" y="2455043"/>
                    <a:pt x="4436621" y="2455043"/>
                  </a:cubicBezTo>
                  <a:lnTo>
                    <a:pt x="8257" y="2455043"/>
                  </a:lnTo>
                  <a:cubicBezTo>
                    <a:pt x="3697" y="2455043"/>
                    <a:pt x="0" y="2451346"/>
                    <a:pt x="0" y="2446786"/>
                  </a:cubicBezTo>
                  <a:lnTo>
                    <a:pt x="0" y="8257"/>
                  </a:lnTo>
                  <a:cubicBezTo>
                    <a:pt x="0" y="3697"/>
                    <a:pt x="3697" y="0"/>
                    <a:pt x="82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444879" cy="24931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295231" y="1679013"/>
            <a:ext cx="15690887" cy="7876658"/>
            <a:chOff x="0" y="0"/>
            <a:chExt cx="4132579" cy="2074511"/>
          </a:xfrm>
        </p:grpSpPr>
        <p:sp>
          <p:nvSpPr>
            <p:cNvPr id="18" name="Freeform 18"/>
            <p:cNvSpPr/>
            <p:nvPr/>
          </p:nvSpPr>
          <p:spPr>
            <a:xfrm>
              <a:off x="0" y="0"/>
              <a:ext cx="4132580" cy="2074511"/>
            </a:xfrm>
            <a:custGeom>
              <a:avLst/>
              <a:gdLst/>
              <a:ahLst/>
              <a:cxnLst/>
              <a:rect l="l" t="t" r="r" b="b"/>
              <a:pathLst>
                <a:path w="4132580" h="2074511">
                  <a:moveTo>
                    <a:pt x="8881" y="0"/>
                  </a:moveTo>
                  <a:lnTo>
                    <a:pt x="4123698" y="0"/>
                  </a:lnTo>
                  <a:cubicBezTo>
                    <a:pt x="4126054" y="0"/>
                    <a:pt x="4128313" y="936"/>
                    <a:pt x="4129978" y="2601"/>
                  </a:cubicBezTo>
                  <a:cubicBezTo>
                    <a:pt x="4131644" y="4267"/>
                    <a:pt x="4132580" y="6526"/>
                    <a:pt x="4132580" y="8881"/>
                  </a:cubicBezTo>
                  <a:lnTo>
                    <a:pt x="4132580" y="2065630"/>
                  </a:lnTo>
                  <a:cubicBezTo>
                    <a:pt x="4132580" y="2067985"/>
                    <a:pt x="4131644" y="2070244"/>
                    <a:pt x="4129978" y="2071910"/>
                  </a:cubicBezTo>
                  <a:cubicBezTo>
                    <a:pt x="4128313" y="2073575"/>
                    <a:pt x="4126054" y="2074511"/>
                    <a:pt x="4123698" y="2074511"/>
                  </a:cubicBezTo>
                  <a:lnTo>
                    <a:pt x="8881" y="2074511"/>
                  </a:lnTo>
                  <a:cubicBezTo>
                    <a:pt x="3976" y="2074511"/>
                    <a:pt x="0" y="2070534"/>
                    <a:pt x="0" y="2065630"/>
                  </a:cubicBezTo>
                  <a:lnTo>
                    <a:pt x="0" y="8881"/>
                  </a:lnTo>
                  <a:cubicBezTo>
                    <a:pt x="0" y="6526"/>
                    <a:pt x="936" y="4267"/>
                    <a:pt x="2601" y="2601"/>
                  </a:cubicBezTo>
                  <a:cubicBezTo>
                    <a:pt x="4267" y="936"/>
                    <a:pt x="6526" y="0"/>
                    <a:pt x="8881" y="0"/>
                  </a:cubicBezTo>
                  <a:close/>
                </a:path>
              </a:pathLst>
            </a:custGeom>
            <a:solidFill>
              <a:srgbClr val="FFFFFF"/>
            </a:solidFill>
            <a:ln w="38100" cap="sq">
              <a:solidFill>
                <a:srgbClr val="0A322B"/>
              </a:solidFill>
              <a:prstDash val="solid"/>
              <a:miter/>
            </a:ln>
          </p:spPr>
        </p:sp>
        <p:sp>
          <p:nvSpPr>
            <p:cNvPr id="19" name="TextBox 19"/>
            <p:cNvSpPr txBox="1"/>
            <p:nvPr/>
          </p:nvSpPr>
          <p:spPr>
            <a:xfrm>
              <a:off x="0" y="-38100"/>
              <a:ext cx="4132579" cy="211261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a:off x="1931598" y="2083281"/>
            <a:ext cx="14301859" cy="2372447"/>
            <a:chOff x="0" y="0"/>
            <a:chExt cx="3766745" cy="624842"/>
          </a:xfrm>
        </p:grpSpPr>
        <p:sp>
          <p:nvSpPr>
            <p:cNvPr id="21" name="Freeform 21"/>
            <p:cNvSpPr/>
            <p:nvPr/>
          </p:nvSpPr>
          <p:spPr>
            <a:xfrm>
              <a:off x="0" y="0"/>
              <a:ext cx="3766745" cy="624842"/>
            </a:xfrm>
            <a:custGeom>
              <a:avLst/>
              <a:gdLst/>
              <a:ahLst/>
              <a:cxnLst/>
              <a:rect l="l" t="t" r="r" b="b"/>
              <a:pathLst>
                <a:path w="3766745" h="624842">
                  <a:moveTo>
                    <a:pt x="9744" y="0"/>
                  </a:moveTo>
                  <a:lnTo>
                    <a:pt x="3757001" y="0"/>
                  </a:lnTo>
                  <a:cubicBezTo>
                    <a:pt x="3762382" y="0"/>
                    <a:pt x="3766745" y="4362"/>
                    <a:pt x="3766745" y="9744"/>
                  </a:cubicBezTo>
                  <a:lnTo>
                    <a:pt x="3766745" y="615098"/>
                  </a:lnTo>
                  <a:cubicBezTo>
                    <a:pt x="3766745" y="617682"/>
                    <a:pt x="3765718" y="620161"/>
                    <a:pt x="3763891" y="621988"/>
                  </a:cubicBezTo>
                  <a:cubicBezTo>
                    <a:pt x="3762064" y="623815"/>
                    <a:pt x="3759585" y="624842"/>
                    <a:pt x="3757001" y="624842"/>
                  </a:cubicBezTo>
                  <a:lnTo>
                    <a:pt x="9744" y="624842"/>
                  </a:lnTo>
                  <a:cubicBezTo>
                    <a:pt x="4362" y="624842"/>
                    <a:pt x="0" y="620480"/>
                    <a:pt x="0" y="615098"/>
                  </a:cubicBezTo>
                  <a:lnTo>
                    <a:pt x="0" y="9744"/>
                  </a:lnTo>
                  <a:cubicBezTo>
                    <a:pt x="0" y="4362"/>
                    <a:pt x="4362" y="0"/>
                    <a:pt x="9744" y="0"/>
                  </a:cubicBezTo>
                  <a:close/>
                </a:path>
              </a:pathLst>
            </a:custGeom>
            <a:solidFill>
              <a:srgbClr val="FFFFFF"/>
            </a:solidFill>
            <a:ln w="38100" cap="sq">
              <a:solidFill>
                <a:srgbClr val="0A322B"/>
              </a:solidFill>
              <a:prstDash val="solid"/>
              <a:miter/>
            </a:ln>
          </p:spPr>
        </p:sp>
        <p:sp>
          <p:nvSpPr>
            <p:cNvPr id="22" name="TextBox 22"/>
            <p:cNvSpPr txBox="1"/>
            <p:nvPr/>
          </p:nvSpPr>
          <p:spPr>
            <a:xfrm>
              <a:off x="0" y="-38100"/>
              <a:ext cx="3766745" cy="66294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1931598" y="4705851"/>
            <a:ext cx="14301859" cy="4438997"/>
            <a:chOff x="0" y="0"/>
            <a:chExt cx="3766745" cy="1169119"/>
          </a:xfrm>
        </p:grpSpPr>
        <p:sp>
          <p:nvSpPr>
            <p:cNvPr id="24" name="Freeform 24"/>
            <p:cNvSpPr/>
            <p:nvPr/>
          </p:nvSpPr>
          <p:spPr>
            <a:xfrm>
              <a:off x="0" y="0"/>
              <a:ext cx="3766745" cy="1169119"/>
            </a:xfrm>
            <a:custGeom>
              <a:avLst/>
              <a:gdLst/>
              <a:ahLst/>
              <a:cxnLst/>
              <a:rect l="l" t="t" r="r" b="b"/>
              <a:pathLst>
                <a:path w="3766745" h="1169119">
                  <a:moveTo>
                    <a:pt x="9744" y="0"/>
                  </a:moveTo>
                  <a:lnTo>
                    <a:pt x="3757001" y="0"/>
                  </a:lnTo>
                  <a:cubicBezTo>
                    <a:pt x="3762382" y="0"/>
                    <a:pt x="3766745" y="4362"/>
                    <a:pt x="3766745" y="9744"/>
                  </a:cubicBezTo>
                  <a:lnTo>
                    <a:pt x="3766745" y="1159375"/>
                  </a:lnTo>
                  <a:cubicBezTo>
                    <a:pt x="3766745" y="1161959"/>
                    <a:pt x="3765718" y="1164437"/>
                    <a:pt x="3763891" y="1166265"/>
                  </a:cubicBezTo>
                  <a:cubicBezTo>
                    <a:pt x="3762064" y="1168092"/>
                    <a:pt x="3759585" y="1169119"/>
                    <a:pt x="3757001" y="1169119"/>
                  </a:cubicBezTo>
                  <a:lnTo>
                    <a:pt x="9744" y="1169119"/>
                  </a:lnTo>
                  <a:cubicBezTo>
                    <a:pt x="4362" y="1169119"/>
                    <a:pt x="0" y="1164756"/>
                    <a:pt x="0" y="1159375"/>
                  </a:cubicBezTo>
                  <a:lnTo>
                    <a:pt x="0" y="9744"/>
                  </a:lnTo>
                  <a:cubicBezTo>
                    <a:pt x="0" y="4362"/>
                    <a:pt x="4362" y="0"/>
                    <a:pt x="9744" y="0"/>
                  </a:cubicBezTo>
                  <a:close/>
                </a:path>
              </a:pathLst>
            </a:custGeom>
            <a:solidFill>
              <a:srgbClr val="FFFFFF"/>
            </a:solidFill>
            <a:ln w="38100" cap="sq">
              <a:solidFill>
                <a:srgbClr val="0A322B"/>
              </a:solidFill>
              <a:prstDash val="solid"/>
              <a:miter/>
            </a:ln>
          </p:spPr>
        </p:sp>
        <p:sp>
          <p:nvSpPr>
            <p:cNvPr id="25" name="TextBox 25"/>
            <p:cNvSpPr txBox="1"/>
            <p:nvPr/>
          </p:nvSpPr>
          <p:spPr>
            <a:xfrm>
              <a:off x="0" y="-38100"/>
              <a:ext cx="3766745" cy="120721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931598" y="2082862"/>
            <a:ext cx="826400" cy="743896"/>
            <a:chOff x="0" y="0"/>
            <a:chExt cx="217653" cy="195923"/>
          </a:xfrm>
        </p:grpSpPr>
        <p:sp>
          <p:nvSpPr>
            <p:cNvPr id="27" name="Freeform 27"/>
            <p:cNvSpPr/>
            <p:nvPr/>
          </p:nvSpPr>
          <p:spPr>
            <a:xfrm>
              <a:off x="0" y="0"/>
              <a:ext cx="217653" cy="195923"/>
            </a:xfrm>
            <a:custGeom>
              <a:avLst/>
              <a:gdLst/>
              <a:ahLst/>
              <a:cxnLst/>
              <a:rect l="l" t="t" r="r" b="b"/>
              <a:pathLst>
                <a:path w="217653" h="195923">
                  <a:moveTo>
                    <a:pt x="97962" y="0"/>
                  </a:moveTo>
                  <a:lnTo>
                    <a:pt x="119691" y="0"/>
                  </a:lnTo>
                  <a:cubicBezTo>
                    <a:pt x="173794" y="0"/>
                    <a:pt x="217653" y="43859"/>
                    <a:pt x="217653" y="97962"/>
                  </a:cubicBezTo>
                  <a:lnTo>
                    <a:pt x="217653" y="97962"/>
                  </a:lnTo>
                  <a:cubicBezTo>
                    <a:pt x="217653" y="152064"/>
                    <a:pt x="173794" y="195923"/>
                    <a:pt x="119691" y="195923"/>
                  </a:cubicBezTo>
                  <a:lnTo>
                    <a:pt x="97962" y="195923"/>
                  </a:lnTo>
                  <a:cubicBezTo>
                    <a:pt x="43859" y="195923"/>
                    <a:pt x="0" y="152064"/>
                    <a:pt x="0" y="97962"/>
                  </a:cubicBezTo>
                  <a:lnTo>
                    <a:pt x="0" y="97962"/>
                  </a:lnTo>
                  <a:cubicBezTo>
                    <a:pt x="0" y="43859"/>
                    <a:pt x="43859" y="0"/>
                    <a:pt x="97962" y="0"/>
                  </a:cubicBezTo>
                  <a:close/>
                </a:path>
              </a:pathLst>
            </a:custGeom>
            <a:solidFill>
              <a:srgbClr val="FCDE8C"/>
            </a:solidFill>
            <a:ln w="38100" cap="sq">
              <a:solidFill>
                <a:srgbClr val="0A322B"/>
              </a:solidFill>
              <a:prstDash val="solid"/>
              <a:miter/>
            </a:ln>
          </p:spPr>
        </p:sp>
        <p:sp>
          <p:nvSpPr>
            <p:cNvPr id="28" name="TextBox 28"/>
            <p:cNvSpPr txBox="1"/>
            <p:nvPr/>
          </p:nvSpPr>
          <p:spPr>
            <a:xfrm>
              <a:off x="0" y="-38100"/>
              <a:ext cx="217653" cy="23402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9" name="Group 29"/>
          <p:cNvGrpSpPr/>
          <p:nvPr/>
        </p:nvGrpSpPr>
        <p:grpSpPr>
          <a:xfrm>
            <a:off x="1931598" y="4705851"/>
            <a:ext cx="826400" cy="685015"/>
            <a:chOff x="0" y="0"/>
            <a:chExt cx="217653" cy="180415"/>
          </a:xfrm>
        </p:grpSpPr>
        <p:sp>
          <p:nvSpPr>
            <p:cNvPr id="30" name="Freeform 30"/>
            <p:cNvSpPr/>
            <p:nvPr/>
          </p:nvSpPr>
          <p:spPr>
            <a:xfrm>
              <a:off x="0" y="0"/>
              <a:ext cx="217653" cy="180415"/>
            </a:xfrm>
            <a:custGeom>
              <a:avLst/>
              <a:gdLst/>
              <a:ahLst/>
              <a:cxnLst/>
              <a:rect l="l" t="t" r="r" b="b"/>
              <a:pathLst>
                <a:path w="217653" h="180415">
                  <a:moveTo>
                    <a:pt x="90208" y="0"/>
                  </a:moveTo>
                  <a:lnTo>
                    <a:pt x="127445" y="0"/>
                  </a:lnTo>
                  <a:cubicBezTo>
                    <a:pt x="177265" y="0"/>
                    <a:pt x="217653" y="40387"/>
                    <a:pt x="217653" y="90208"/>
                  </a:cubicBezTo>
                  <a:lnTo>
                    <a:pt x="217653" y="90208"/>
                  </a:lnTo>
                  <a:cubicBezTo>
                    <a:pt x="217653" y="114132"/>
                    <a:pt x="208149" y="137077"/>
                    <a:pt x="191231" y="153994"/>
                  </a:cubicBezTo>
                  <a:cubicBezTo>
                    <a:pt x="174314" y="170911"/>
                    <a:pt x="151369" y="180415"/>
                    <a:pt x="127445" y="180415"/>
                  </a:cubicBezTo>
                  <a:lnTo>
                    <a:pt x="90208" y="180415"/>
                  </a:lnTo>
                  <a:cubicBezTo>
                    <a:pt x="66283" y="180415"/>
                    <a:pt x="43338" y="170911"/>
                    <a:pt x="26421" y="153994"/>
                  </a:cubicBezTo>
                  <a:cubicBezTo>
                    <a:pt x="9504" y="137077"/>
                    <a:pt x="0" y="114132"/>
                    <a:pt x="0" y="90208"/>
                  </a:cubicBezTo>
                  <a:lnTo>
                    <a:pt x="0" y="90208"/>
                  </a:lnTo>
                  <a:cubicBezTo>
                    <a:pt x="0" y="66283"/>
                    <a:pt x="9504" y="43338"/>
                    <a:pt x="26421" y="26421"/>
                  </a:cubicBezTo>
                  <a:cubicBezTo>
                    <a:pt x="43338" y="9504"/>
                    <a:pt x="66283" y="0"/>
                    <a:pt x="90208" y="0"/>
                  </a:cubicBezTo>
                  <a:close/>
                </a:path>
              </a:pathLst>
            </a:custGeom>
            <a:solidFill>
              <a:srgbClr val="FCDE8C"/>
            </a:solidFill>
            <a:ln w="38100" cap="sq">
              <a:solidFill>
                <a:srgbClr val="0A322B"/>
              </a:solidFill>
              <a:prstDash val="solid"/>
              <a:miter/>
            </a:ln>
          </p:spPr>
        </p:sp>
        <p:sp>
          <p:nvSpPr>
            <p:cNvPr id="31" name="TextBox 31"/>
            <p:cNvSpPr txBox="1"/>
            <p:nvPr/>
          </p:nvSpPr>
          <p:spPr>
            <a:xfrm>
              <a:off x="0" y="-38100"/>
              <a:ext cx="217653" cy="2185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2" name="TextBox 32"/>
          <p:cNvSpPr txBox="1"/>
          <p:nvPr/>
        </p:nvSpPr>
        <p:spPr>
          <a:xfrm>
            <a:off x="1028700" y="940069"/>
            <a:ext cx="12516282" cy="738944"/>
          </a:xfrm>
          <a:prstGeom prst="rect">
            <a:avLst/>
          </a:prstGeom>
        </p:spPr>
        <p:txBody>
          <a:bodyPr lIns="0" tIns="0" rIns="0" bIns="0" rtlCol="0" anchor="t">
            <a:spAutoFit/>
          </a:bodyPr>
          <a:lstStyle/>
          <a:p>
            <a:pPr marL="0" lvl="0" indent="0" algn="l">
              <a:lnSpc>
                <a:spcPts val="6163"/>
              </a:lnSpc>
              <a:spcBef>
                <a:spcPct val="0"/>
              </a:spcBef>
            </a:pPr>
            <a:r>
              <a:rPr lang="en-US" sz="6557" spc="-327">
                <a:solidFill>
                  <a:srgbClr val="FCDE8C"/>
                </a:solidFill>
                <a:latin typeface="210 클레이토이"/>
                <a:ea typeface="210 클레이토이"/>
                <a:cs typeface="210 클레이토이"/>
                <a:sym typeface="210 클레이토이"/>
              </a:rPr>
              <a:t>RANCANG</a:t>
            </a:r>
            <a:r>
              <a:rPr lang="en-US" sz="6557" u="none" strike="noStrike" spc="-327">
                <a:solidFill>
                  <a:srgbClr val="FCDE8C"/>
                </a:solidFill>
                <a:latin typeface="210 클레이토이"/>
                <a:ea typeface="210 클레이토이"/>
                <a:cs typeface="210 클레이토이"/>
                <a:sym typeface="210 클레이토이"/>
              </a:rPr>
              <a:t>AN SISTEM</a:t>
            </a:r>
          </a:p>
          <a:p>
            <a:pPr marL="0" lvl="0" indent="0" algn="l">
              <a:lnSpc>
                <a:spcPts val="70"/>
              </a:lnSpc>
              <a:spcBef>
                <a:spcPct val="0"/>
              </a:spcBef>
            </a:pPr>
            <a:endParaRPr lang="en-US" sz="6557" u="none" strike="noStrike" spc="-327">
              <a:solidFill>
                <a:srgbClr val="FCDE8C"/>
              </a:solidFill>
              <a:latin typeface="210 클레이토이"/>
              <a:ea typeface="210 클레이토이"/>
              <a:cs typeface="210 클레이토이"/>
              <a:sym typeface="210 클레이토이"/>
            </a:endParaRPr>
          </a:p>
        </p:txBody>
      </p:sp>
      <p:sp>
        <p:nvSpPr>
          <p:cNvPr id="33" name="TextBox 33"/>
          <p:cNvSpPr txBox="1"/>
          <p:nvPr/>
        </p:nvSpPr>
        <p:spPr>
          <a:xfrm>
            <a:off x="1931598" y="2305118"/>
            <a:ext cx="826400" cy="356536"/>
          </a:xfrm>
          <a:prstGeom prst="rect">
            <a:avLst/>
          </a:prstGeom>
        </p:spPr>
        <p:txBody>
          <a:bodyPr lIns="0" tIns="0" rIns="0" bIns="0" rtlCol="0" anchor="t">
            <a:spAutoFit/>
          </a:bodyPr>
          <a:lstStyle/>
          <a:p>
            <a:pPr marL="0" lvl="0" indent="0" algn="ctr">
              <a:lnSpc>
                <a:spcPts val="2573"/>
              </a:lnSpc>
              <a:spcBef>
                <a:spcPct val="0"/>
              </a:spcBef>
            </a:pPr>
            <a:r>
              <a:rPr lang="en-US" sz="2737" spc="-136">
                <a:solidFill>
                  <a:srgbClr val="231F20"/>
                </a:solidFill>
                <a:latin typeface="210 클레이토이"/>
                <a:ea typeface="210 클레이토이"/>
                <a:cs typeface="210 클레이토이"/>
                <a:sym typeface="210 클레이토이"/>
              </a:rPr>
              <a:t>1.</a:t>
            </a:r>
          </a:p>
        </p:txBody>
      </p:sp>
      <p:sp>
        <p:nvSpPr>
          <p:cNvPr id="34" name="TextBox 34"/>
          <p:cNvSpPr txBox="1"/>
          <p:nvPr/>
        </p:nvSpPr>
        <p:spPr>
          <a:xfrm>
            <a:off x="1931598" y="4894368"/>
            <a:ext cx="843571" cy="365131"/>
          </a:xfrm>
          <a:prstGeom prst="rect">
            <a:avLst/>
          </a:prstGeom>
        </p:spPr>
        <p:txBody>
          <a:bodyPr lIns="0" tIns="0" rIns="0" bIns="0" rtlCol="0" anchor="t">
            <a:spAutoFit/>
          </a:bodyPr>
          <a:lstStyle/>
          <a:p>
            <a:pPr marL="0" lvl="0" indent="0" algn="ctr">
              <a:lnSpc>
                <a:spcPts val="2626"/>
              </a:lnSpc>
              <a:spcBef>
                <a:spcPct val="0"/>
              </a:spcBef>
            </a:pPr>
            <a:r>
              <a:rPr lang="en-US" sz="2794" spc="-139">
                <a:solidFill>
                  <a:srgbClr val="231F20"/>
                </a:solidFill>
                <a:latin typeface="210 클레이토이"/>
                <a:ea typeface="210 클레이토이"/>
                <a:cs typeface="210 클레이토이"/>
                <a:sym typeface="210 클레이토이"/>
              </a:rPr>
              <a:t>2.</a:t>
            </a:r>
          </a:p>
        </p:txBody>
      </p:sp>
      <p:sp>
        <p:nvSpPr>
          <p:cNvPr id="35" name="TextBox 35"/>
          <p:cNvSpPr txBox="1"/>
          <p:nvPr/>
        </p:nvSpPr>
        <p:spPr>
          <a:xfrm>
            <a:off x="2914914" y="4903893"/>
            <a:ext cx="12559852" cy="384810"/>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Alur Proses Sistem</a:t>
            </a:r>
          </a:p>
        </p:txBody>
      </p:sp>
      <p:sp>
        <p:nvSpPr>
          <p:cNvPr id="36" name="TextBox 36"/>
          <p:cNvSpPr txBox="1"/>
          <p:nvPr/>
        </p:nvSpPr>
        <p:spPr>
          <a:xfrm>
            <a:off x="2914914" y="2276843"/>
            <a:ext cx="12335226" cy="384810"/>
          </a:xfrm>
          <a:prstGeom prst="rect">
            <a:avLst/>
          </a:prstGeom>
        </p:spPr>
        <p:txBody>
          <a:bodyPr lIns="0" tIns="0" rIns="0" bIns="0" rtlCol="0" anchor="t">
            <a:spAutoFit/>
          </a:bodyPr>
          <a:lstStyle/>
          <a:p>
            <a:pPr marL="0" lvl="0" indent="0" algn="l">
              <a:lnSpc>
                <a:spcPts val="2820"/>
              </a:lnSpc>
              <a:spcBef>
                <a:spcPct val="0"/>
              </a:spcBef>
            </a:pPr>
            <a:r>
              <a:rPr lang="en-US" sz="3000" b="1" spc="-150">
                <a:solidFill>
                  <a:srgbClr val="231F20"/>
                </a:solidFill>
                <a:latin typeface="Quicksand Bold"/>
                <a:ea typeface="Quicksand Bold"/>
                <a:cs typeface="Quicksand Bold"/>
                <a:sym typeface="Quicksand Bold"/>
              </a:rPr>
              <a:t>Arsitektur Sistem</a:t>
            </a:r>
          </a:p>
        </p:txBody>
      </p:sp>
      <p:sp>
        <p:nvSpPr>
          <p:cNvPr id="37" name="TextBox 37"/>
          <p:cNvSpPr txBox="1"/>
          <p:nvPr/>
        </p:nvSpPr>
        <p:spPr>
          <a:xfrm>
            <a:off x="2914914" y="2769608"/>
            <a:ext cx="13336053" cy="1862329"/>
          </a:xfrm>
          <a:prstGeom prst="rect">
            <a:avLst/>
          </a:prstGeom>
        </p:spPr>
        <p:txBody>
          <a:bodyPr lIns="0" tIns="0" rIns="0" bIns="0" rtlCol="0" anchor="t">
            <a:spAutoFit/>
          </a:bodyPr>
          <a:lstStyle/>
          <a:p>
            <a:pPr algn="l">
              <a:lnSpc>
                <a:spcPts val="3725"/>
              </a:lnSpc>
            </a:pPr>
            <a:r>
              <a:rPr lang="en-US" sz="2699" spc="-134">
                <a:solidFill>
                  <a:srgbClr val="231F20"/>
                </a:solidFill>
                <a:latin typeface="Quicksand"/>
                <a:ea typeface="Quicksand"/>
                <a:cs typeface="Quicksand"/>
                <a:sym typeface="Quicksand"/>
              </a:rPr>
              <a:t>Sistem peminjaman buku dibangun dengan pendekatan OOP yang terdiri dari Presentation Layer (GUI Java Swing), Business Logic (class OOP), dan Data Layer (ArrayList sebagai penyimpanan data).</a:t>
            </a:r>
          </a:p>
          <a:p>
            <a:pPr marL="0" lvl="0" indent="0" algn="l">
              <a:lnSpc>
                <a:spcPts val="3725"/>
              </a:lnSpc>
            </a:pPr>
            <a:endParaRPr lang="en-US" sz="2699" spc="-134">
              <a:solidFill>
                <a:srgbClr val="231F20"/>
              </a:solidFill>
              <a:latin typeface="Quicksand"/>
              <a:ea typeface="Quicksand"/>
              <a:cs typeface="Quicksand"/>
              <a:sym typeface="Quicksand"/>
            </a:endParaRPr>
          </a:p>
        </p:txBody>
      </p:sp>
      <p:sp>
        <p:nvSpPr>
          <p:cNvPr id="38" name="TextBox 38"/>
          <p:cNvSpPr txBox="1"/>
          <p:nvPr/>
        </p:nvSpPr>
        <p:spPr>
          <a:xfrm>
            <a:off x="2526814" y="5231553"/>
            <a:ext cx="13336053" cy="4195954"/>
          </a:xfrm>
          <a:prstGeom prst="rect">
            <a:avLst/>
          </a:prstGeom>
        </p:spPr>
        <p:txBody>
          <a:bodyPr lIns="0" tIns="0" rIns="0" bIns="0" rtlCol="0" anchor="t">
            <a:spAutoFit/>
          </a:bodyPr>
          <a:lstStyle/>
          <a:p>
            <a:pPr marL="582925" lvl="1" indent="-291463" algn="l">
              <a:lnSpc>
                <a:spcPts val="3725"/>
              </a:lnSpc>
              <a:buAutoNum type="arabicPeriod"/>
            </a:pPr>
            <a:r>
              <a:rPr lang="en-US" sz="2699" spc="-134">
                <a:solidFill>
                  <a:srgbClr val="231F20"/>
                </a:solidFill>
                <a:latin typeface="Quicksand"/>
                <a:ea typeface="Quicksand"/>
                <a:cs typeface="Quicksand"/>
                <a:sym typeface="Quicksand"/>
              </a:rPr>
              <a:t>Login &amp; Autentikasi → Sistem memvalidasi username dan password melalui class Database.</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Role-Based Access → Menu ditampilkan sesuai peran pengguna, yaitu Anggota atau Petugas (penerapan polimorfisme).</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Transaksi Peminjaman→ Sistem memeriksa ketersediaan buku, menyimpan data peminjaman, dan memperbarui status buku.</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Transaksi Pengembalian→ Sistem menghitung denda keterlambatan, menyimpan data pengembalian, serta memperbarui stok dan riwayat transaksi.</a:t>
            </a:r>
          </a:p>
          <a:p>
            <a:pPr marL="0" lvl="0" indent="0" algn="l">
              <a:lnSpc>
                <a:spcPts val="3725"/>
              </a:lnSpc>
            </a:pPr>
            <a:endParaRPr lang="en-US" sz="2699" spc="-134">
              <a:solidFill>
                <a:srgbClr val="231F20"/>
              </a:solidFill>
              <a:latin typeface="Quicksand"/>
              <a:ea typeface="Quicksand"/>
              <a:cs typeface="Quicksand"/>
              <a:sym typeface="Quicksa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01804" y="369641"/>
            <a:ext cx="16676066" cy="9722660"/>
            <a:chOff x="0" y="0"/>
            <a:chExt cx="4392050" cy="2560700"/>
          </a:xfrm>
        </p:grpSpPr>
        <p:sp>
          <p:nvSpPr>
            <p:cNvPr id="15" name="Freeform 15"/>
            <p:cNvSpPr/>
            <p:nvPr/>
          </p:nvSpPr>
          <p:spPr>
            <a:xfrm>
              <a:off x="0" y="0"/>
              <a:ext cx="4392050" cy="2560700"/>
            </a:xfrm>
            <a:custGeom>
              <a:avLst/>
              <a:gdLst/>
              <a:ahLst/>
              <a:cxnLst/>
              <a:rect l="l" t="t" r="r" b="b"/>
              <a:pathLst>
                <a:path w="4392050" h="2560700">
                  <a:moveTo>
                    <a:pt x="8357" y="0"/>
                  </a:moveTo>
                  <a:lnTo>
                    <a:pt x="4383694" y="0"/>
                  </a:lnTo>
                  <a:cubicBezTo>
                    <a:pt x="4388309" y="0"/>
                    <a:pt x="4392050" y="3741"/>
                    <a:pt x="4392050" y="8357"/>
                  </a:cubicBezTo>
                  <a:lnTo>
                    <a:pt x="4392050" y="2552344"/>
                  </a:lnTo>
                  <a:cubicBezTo>
                    <a:pt x="4392050" y="2556959"/>
                    <a:pt x="4388309" y="2560700"/>
                    <a:pt x="4383694" y="2560700"/>
                  </a:cubicBezTo>
                  <a:lnTo>
                    <a:pt x="8357" y="2560700"/>
                  </a:lnTo>
                  <a:cubicBezTo>
                    <a:pt x="3741" y="2560700"/>
                    <a:pt x="0" y="2556959"/>
                    <a:pt x="0" y="2552344"/>
                  </a:cubicBezTo>
                  <a:lnTo>
                    <a:pt x="0" y="8357"/>
                  </a:lnTo>
                  <a:cubicBezTo>
                    <a:pt x="0" y="3741"/>
                    <a:pt x="3741" y="0"/>
                    <a:pt x="83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392050" cy="25988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Freeform 17"/>
          <p:cNvSpPr/>
          <p:nvPr/>
        </p:nvSpPr>
        <p:spPr>
          <a:xfrm>
            <a:off x="2111813" y="1753308"/>
            <a:ext cx="7664799" cy="5774611"/>
          </a:xfrm>
          <a:custGeom>
            <a:avLst/>
            <a:gdLst/>
            <a:ahLst/>
            <a:cxnLst/>
            <a:rect l="l" t="t" r="r" b="b"/>
            <a:pathLst>
              <a:path w="7664799" h="5774611">
                <a:moveTo>
                  <a:pt x="0" y="0"/>
                </a:moveTo>
                <a:lnTo>
                  <a:pt x="7664799" y="0"/>
                </a:lnTo>
                <a:lnTo>
                  <a:pt x="7664799" y="5774612"/>
                </a:lnTo>
                <a:lnTo>
                  <a:pt x="0" y="5774612"/>
                </a:lnTo>
                <a:lnTo>
                  <a:pt x="0" y="0"/>
                </a:lnTo>
                <a:close/>
              </a:path>
            </a:pathLst>
          </a:custGeom>
          <a:blipFill>
            <a:blip r:embed="rId4"/>
            <a:stretch>
              <a:fillRect/>
            </a:stretch>
          </a:blipFill>
        </p:spPr>
      </p:sp>
      <p:sp>
        <p:nvSpPr>
          <p:cNvPr id="18" name="TextBox 18"/>
          <p:cNvSpPr txBox="1"/>
          <p:nvPr/>
        </p:nvSpPr>
        <p:spPr>
          <a:xfrm>
            <a:off x="1028700" y="670878"/>
            <a:ext cx="8747912" cy="627135"/>
          </a:xfrm>
          <a:prstGeom prst="rect">
            <a:avLst/>
          </a:prstGeom>
        </p:spPr>
        <p:txBody>
          <a:bodyPr lIns="0" tIns="0" rIns="0" bIns="0" rtlCol="0" anchor="t">
            <a:spAutoFit/>
          </a:bodyPr>
          <a:lstStyle/>
          <a:p>
            <a:pPr marL="0" lvl="0" indent="0" algn="l">
              <a:lnSpc>
                <a:spcPts val="4566"/>
              </a:lnSpc>
              <a:spcBef>
                <a:spcPct val="0"/>
              </a:spcBef>
            </a:pPr>
            <a:r>
              <a:rPr lang="en-US" sz="4857" spc="-242">
                <a:solidFill>
                  <a:srgbClr val="FCDE8C"/>
                </a:solidFill>
                <a:latin typeface="210 클레이토이"/>
                <a:ea typeface="210 클레이토이"/>
                <a:cs typeface="210 클레이토이"/>
                <a:sym typeface="210 클레이토이"/>
              </a:rPr>
              <a:t>OUTPUT APLIKASI</a:t>
            </a:r>
          </a:p>
        </p:txBody>
      </p:sp>
      <p:sp>
        <p:nvSpPr>
          <p:cNvPr id="19" name="TextBox 19"/>
          <p:cNvSpPr txBox="1"/>
          <p:nvPr/>
        </p:nvSpPr>
        <p:spPr>
          <a:xfrm>
            <a:off x="1615658" y="1240863"/>
            <a:ext cx="6787831"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FITUR MENU ANGGOTA</a:t>
            </a:r>
          </a:p>
        </p:txBody>
      </p:sp>
      <p:sp>
        <p:nvSpPr>
          <p:cNvPr id="20" name="TextBox 20"/>
          <p:cNvSpPr txBox="1"/>
          <p:nvPr/>
        </p:nvSpPr>
        <p:spPr>
          <a:xfrm>
            <a:off x="9776612" y="3243837"/>
            <a:ext cx="7891651" cy="5129404"/>
          </a:xfrm>
          <a:prstGeom prst="rect">
            <a:avLst/>
          </a:prstGeom>
        </p:spPr>
        <p:txBody>
          <a:bodyPr lIns="0" tIns="0" rIns="0" bIns="0" rtlCol="0" anchor="t">
            <a:spAutoFit/>
          </a:bodyPr>
          <a:lstStyle/>
          <a:p>
            <a:pPr marL="582925" lvl="1" indent="-291463" algn="l">
              <a:lnSpc>
                <a:spcPts val="3725"/>
              </a:lnSpc>
              <a:buAutoNum type="arabicPeriod"/>
            </a:pPr>
            <a:r>
              <a:rPr lang="en-US" sz="2699" spc="-134">
                <a:solidFill>
                  <a:srgbClr val="231F20"/>
                </a:solidFill>
                <a:latin typeface="Quicksand"/>
                <a:ea typeface="Quicksand"/>
                <a:cs typeface="Quicksand"/>
                <a:sym typeface="Quicksand"/>
              </a:rPr>
              <a:t>Cari Buku → Menampilkan dan mencari buku berdasarkan judul atau nama penulis.</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Pinjam Buku → Melakukan peminjaman buku dengan pengecekan ketersediaan secara otomatis.</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Riwayat Peminjaman→ Menampilkan daftar riwayat peminjaman buku milik anggota.</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Kembalikan Buku→ Memproses pengembalian buku dengan perhitungan denda keterlambatan secara otomatis.</a:t>
            </a:r>
          </a:p>
          <a:p>
            <a:pPr marL="0" lvl="0" indent="0" algn="l">
              <a:lnSpc>
                <a:spcPts val="3725"/>
              </a:lnSpc>
            </a:pPr>
            <a:endParaRPr lang="en-US" sz="2699" spc="-134">
              <a:solidFill>
                <a:srgbClr val="231F20"/>
              </a:solidFill>
              <a:latin typeface="Quicksand"/>
              <a:ea typeface="Quicksand"/>
              <a:cs typeface="Quicksand"/>
              <a:sym typeface="Quicksan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01804" y="369641"/>
            <a:ext cx="16676066" cy="9722660"/>
            <a:chOff x="0" y="0"/>
            <a:chExt cx="4392050" cy="2560700"/>
          </a:xfrm>
        </p:grpSpPr>
        <p:sp>
          <p:nvSpPr>
            <p:cNvPr id="15" name="Freeform 15"/>
            <p:cNvSpPr/>
            <p:nvPr/>
          </p:nvSpPr>
          <p:spPr>
            <a:xfrm>
              <a:off x="0" y="0"/>
              <a:ext cx="4392050" cy="2560700"/>
            </a:xfrm>
            <a:custGeom>
              <a:avLst/>
              <a:gdLst/>
              <a:ahLst/>
              <a:cxnLst/>
              <a:rect l="l" t="t" r="r" b="b"/>
              <a:pathLst>
                <a:path w="4392050" h="2560700">
                  <a:moveTo>
                    <a:pt x="8357" y="0"/>
                  </a:moveTo>
                  <a:lnTo>
                    <a:pt x="4383694" y="0"/>
                  </a:lnTo>
                  <a:cubicBezTo>
                    <a:pt x="4388309" y="0"/>
                    <a:pt x="4392050" y="3741"/>
                    <a:pt x="4392050" y="8357"/>
                  </a:cubicBezTo>
                  <a:lnTo>
                    <a:pt x="4392050" y="2552344"/>
                  </a:lnTo>
                  <a:cubicBezTo>
                    <a:pt x="4392050" y="2556959"/>
                    <a:pt x="4388309" y="2560700"/>
                    <a:pt x="4383694" y="2560700"/>
                  </a:cubicBezTo>
                  <a:lnTo>
                    <a:pt x="8357" y="2560700"/>
                  </a:lnTo>
                  <a:cubicBezTo>
                    <a:pt x="3741" y="2560700"/>
                    <a:pt x="0" y="2556959"/>
                    <a:pt x="0" y="2552344"/>
                  </a:cubicBezTo>
                  <a:lnTo>
                    <a:pt x="0" y="8357"/>
                  </a:lnTo>
                  <a:cubicBezTo>
                    <a:pt x="0" y="3741"/>
                    <a:pt x="3741" y="0"/>
                    <a:pt x="8357"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392050" cy="25988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Freeform 17"/>
          <p:cNvSpPr/>
          <p:nvPr/>
        </p:nvSpPr>
        <p:spPr>
          <a:xfrm>
            <a:off x="1583795" y="1654763"/>
            <a:ext cx="7498733" cy="6251752"/>
          </a:xfrm>
          <a:custGeom>
            <a:avLst/>
            <a:gdLst/>
            <a:ahLst/>
            <a:cxnLst/>
            <a:rect l="l" t="t" r="r" b="b"/>
            <a:pathLst>
              <a:path w="7498733" h="6251752">
                <a:moveTo>
                  <a:pt x="0" y="0"/>
                </a:moveTo>
                <a:lnTo>
                  <a:pt x="7498732" y="0"/>
                </a:lnTo>
                <a:lnTo>
                  <a:pt x="7498732" y="6251753"/>
                </a:lnTo>
                <a:lnTo>
                  <a:pt x="0" y="6251753"/>
                </a:lnTo>
                <a:lnTo>
                  <a:pt x="0" y="0"/>
                </a:lnTo>
                <a:close/>
              </a:path>
            </a:pathLst>
          </a:custGeom>
          <a:blipFill>
            <a:blip r:embed="rId4"/>
            <a:stretch>
              <a:fillRect/>
            </a:stretch>
          </a:blipFill>
        </p:spPr>
      </p:sp>
      <p:sp>
        <p:nvSpPr>
          <p:cNvPr id="18" name="TextBox 18"/>
          <p:cNvSpPr txBox="1"/>
          <p:nvPr/>
        </p:nvSpPr>
        <p:spPr>
          <a:xfrm>
            <a:off x="1372557" y="743902"/>
            <a:ext cx="6787831"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FITUR MENU PETUGAS</a:t>
            </a:r>
          </a:p>
        </p:txBody>
      </p:sp>
      <p:sp>
        <p:nvSpPr>
          <p:cNvPr id="19" name="TextBox 19"/>
          <p:cNvSpPr txBox="1"/>
          <p:nvPr/>
        </p:nvSpPr>
        <p:spPr>
          <a:xfrm>
            <a:off x="9144000" y="3673658"/>
            <a:ext cx="7891651" cy="4662679"/>
          </a:xfrm>
          <a:prstGeom prst="rect">
            <a:avLst/>
          </a:prstGeom>
        </p:spPr>
        <p:txBody>
          <a:bodyPr lIns="0" tIns="0" rIns="0" bIns="0" rtlCol="0" anchor="t">
            <a:spAutoFit/>
          </a:bodyPr>
          <a:lstStyle/>
          <a:p>
            <a:pPr marL="582925" lvl="1" indent="-291463" algn="l">
              <a:lnSpc>
                <a:spcPts val="3725"/>
              </a:lnSpc>
              <a:buAutoNum type="arabicPeriod"/>
            </a:pPr>
            <a:r>
              <a:rPr lang="en-US" sz="2699" spc="-134">
                <a:solidFill>
                  <a:srgbClr val="231F20"/>
                </a:solidFill>
                <a:latin typeface="Quicksand"/>
                <a:ea typeface="Quicksand"/>
                <a:cs typeface="Quicksand"/>
                <a:sym typeface="Quicksand"/>
              </a:rPr>
              <a:t>Data Buku→ Pengelolaan dan pemeliharaan data buku perpustakaan (tambah, ubah, hapus).</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Data Anggota → Pengaturan dan pendataan informasi anggota perpustakaan.</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Peminjaman Aktif→ Menampilkan dan memantau daftar peminjaman buku yang sedang berlangsung.</a:t>
            </a:r>
          </a:p>
          <a:p>
            <a:pPr marL="582925" lvl="1" indent="-291463" algn="l">
              <a:lnSpc>
                <a:spcPts val="3725"/>
              </a:lnSpc>
              <a:buAutoNum type="arabicPeriod"/>
            </a:pPr>
            <a:r>
              <a:rPr lang="en-US" sz="2699" spc="-134">
                <a:solidFill>
                  <a:srgbClr val="231F20"/>
                </a:solidFill>
                <a:latin typeface="Quicksand"/>
                <a:ea typeface="Quicksand"/>
                <a:cs typeface="Quicksand"/>
                <a:sym typeface="Quicksand"/>
              </a:rPr>
              <a:t> Laporan→Penyajian informasi transaksi peminjaman dan pengembalian buku.</a:t>
            </a:r>
          </a:p>
          <a:p>
            <a:pPr marL="0" lvl="0" indent="0" algn="l">
              <a:lnSpc>
                <a:spcPts val="3725"/>
              </a:lnSpc>
            </a:pPr>
            <a:endParaRPr lang="en-US" sz="2699" spc="-134">
              <a:solidFill>
                <a:srgbClr val="231F20"/>
              </a:solidFill>
              <a:latin typeface="Quicksand"/>
              <a:ea typeface="Quicksand"/>
              <a:cs typeface="Quicksand"/>
              <a:sym typeface="Quicksa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388550" y="3300987"/>
            <a:ext cx="18942155" cy="3974586"/>
            <a:chOff x="0" y="0"/>
            <a:chExt cx="4988880" cy="1046804"/>
          </a:xfrm>
        </p:grpSpPr>
        <p:sp>
          <p:nvSpPr>
            <p:cNvPr id="12" name="Freeform 12"/>
            <p:cNvSpPr/>
            <p:nvPr/>
          </p:nvSpPr>
          <p:spPr>
            <a:xfrm>
              <a:off x="0" y="0"/>
              <a:ext cx="4988880" cy="1046805"/>
            </a:xfrm>
            <a:custGeom>
              <a:avLst/>
              <a:gdLst/>
              <a:ahLst/>
              <a:cxnLst/>
              <a:rect l="l" t="t" r="r" b="b"/>
              <a:pathLst>
                <a:path w="4988880" h="1046805">
                  <a:moveTo>
                    <a:pt x="0" y="0"/>
                  </a:moveTo>
                  <a:lnTo>
                    <a:pt x="4988880" y="0"/>
                  </a:lnTo>
                  <a:lnTo>
                    <a:pt x="4988880" y="1046805"/>
                  </a:lnTo>
                  <a:lnTo>
                    <a:pt x="0" y="1046805"/>
                  </a:lnTo>
                  <a:close/>
                </a:path>
              </a:pathLst>
            </a:custGeom>
            <a:solidFill>
              <a:srgbClr val="26B096"/>
            </a:solidFill>
          </p:spPr>
        </p:sp>
        <p:sp>
          <p:nvSpPr>
            <p:cNvPr id="13" name="TextBox 13"/>
            <p:cNvSpPr txBox="1"/>
            <p:nvPr/>
          </p:nvSpPr>
          <p:spPr>
            <a:xfrm>
              <a:off x="0" y="-38100"/>
              <a:ext cx="4988880" cy="108490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31720" y="387073"/>
            <a:ext cx="16127580" cy="9264184"/>
            <a:chOff x="0" y="0"/>
            <a:chExt cx="4247593" cy="2439950"/>
          </a:xfrm>
        </p:grpSpPr>
        <p:sp>
          <p:nvSpPr>
            <p:cNvPr id="15" name="Freeform 15"/>
            <p:cNvSpPr/>
            <p:nvPr/>
          </p:nvSpPr>
          <p:spPr>
            <a:xfrm>
              <a:off x="0" y="0"/>
              <a:ext cx="4247593" cy="2439950"/>
            </a:xfrm>
            <a:custGeom>
              <a:avLst/>
              <a:gdLst/>
              <a:ahLst/>
              <a:cxnLst/>
              <a:rect l="l" t="t" r="r" b="b"/>
              <a:pathLst>
                <a:path w="4247593" h="2439950">
                  <a:moveTo>
                    <a:pt x="8641" y="0"/>
                  </a:moveTo>
                  <a:lnTo>
                    <a:pt x="4238952" y="0"/>
                  </a:lnTo>
                  <a:cubicBezTo>
                    <a:pt x="4241244" y="0"/>
                    <a:pt x="4243442" y="910"/>
                    <a:pt x="4245062" y="2531"/>
                  </a:cubicBezTo>
                  <a:cubicBezTo>
                    <a:pt x="4246683" y="4151"/>
                    <a:pt x="4247593" y="6349"/>
                    <a:pt x="4247593" y="8641"/>
                  </a:cubicBezTo>
                  <a:lnTo>
                    <a:pt x="4247593" y="2431309"/>
                  </a:lnTo>
                  <a:cubicBezTo>
                    <a:pt x="4247593" y="2433600"/>
                    <a:pt x="4246683" y="2435798"/>
                    <a:pt x="4245062" y="2437419"/>
                  </a:cubicBezTo>
                  <a:cubicBezTo>
                    <a:pt x="4243442" y="2439039"/>
                    <a:pt x="4241244" y="2439950"/>
                    <a:pt x="4238952" y="2439950"/>
                  </a:cubicBezTo>
                  <a:lnTo>
                    <a:pt x="8641" y="2439950"/>
                  </a:lnTo>
                  <a:cubicBezTo>
                    <a:pt x="3869" y="2439950"/>
                    <a:pt x="0" y="2436081"/>
                    <a:pt x="0" y="2431309"/>
                  </a:cubicBezTo>
                  <a:lnTo>
                    <a:pt x="0" y="8641"/>
                  </a:lnTo>
                  <a:cubicBezTo>
                    <a:pt x="0" y="6349"/>
                    <a:pt x="910" y="4151"/>
                    <a:pt x="2531" y="2531"/>
                  </a:cubicBezTo>
                  <a:cubicBezTo>
                    <a:pt x="4151" y="910"/>
                    <a:pt x="6349" y="0"/>
                    <a:pt x="8641"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4247593" cy="247805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269961" y="1985701"/>
            <a:ext cx="16336250" cy="7228872"/>
            <a:chOff x="0" y="0"/>
            <a:chExt cx="4302551" cy="1903900"/>
          </a:xfrm>
        </p:grpSpPr>
        <p:sp>
          <p:nvSpPr>
            <p:cNvPr id="18" name="Freeform 18"/>
            <p:cNvSpPr/>
            <p:nvPr/>
          </p:nvSpPr>
          <p:spPr>
            <a:xfrm>
              <a:off x="0" y="0"/>
              <a:ext cx="4302551" cy="1903900"/>
            </a:xfrm>
            <a:custGeom>
              <a:avLst/>
              <a:gdLst/>
              <a:ahLst/>
              <a:cxnLst/>
              <a:rect l="l" t="t" r="r" b="b"/>
              <a:pathLst>
                <a:path w="4302551" h="1903900">
                  <a:moveTo>
                    <a:pt x="8530" y="0"/>
                  </a:moveTo>
                  <a:lnTo>
                    <a:pt x="4294021" y="0"/>
                  </a:lnTo>
                  <a:cubicBezTo>
                    <a:pt x="4296283" y="0"/>
                    <a:pt x="4298453" y="899"/>
                    <a:pt x="4300053" y="2498"/>
                  </a:cubicBezTo>
                  <a:cubicBezTo>
                    <a:pt x="4301653" y="4098"/>
                    <a:pt x="4302551" y="6268"/>
                    <a:pt x="4302551" y="8530"/>
                  </a:cubicBezTo>
                  <a:lnTo>
                    <a:pt x="4302551" y="1895370"/>
                  </a:lnTo>
                  <a:cubicBezTo>
                    <a:pt x="4302551" y="1900081"/>
                    <a:pt x="4298732" y="1903900"/>
                    <a:pt x="4294021" y="1903900"/>
                  </a:cubicBezTo>
                  <a:lnTo>
                    <a:pt x="8530" y="1903900"/>
                  </a:lnTo>
                  <a:cubicBezTo>
                    <a:pt x="3819" y="1903900"/>
                    <a:pt x="0" y="1900081"/>
                    <a:pt x="0" y="1895370"/>
                  </a:cubicBezTo>
                  <a:lnTo>
                    <a:pt x="0" y="8530"/>
                  </a:lnTo>
                  <a:cubicBezTo>
                    <a:pt x="0" y="3819"/>
                    <a:pt x="3819" y="0"/>
                    <a:pt x="8530" y="0"/>
                  </a:cubicBezTo>
                  <a:close/>
                </a:path>
              </a:pathLst>
            </a:custGeom>
            <a:solidFill>
              <a:srgbClr val="FFFFFF"/>
            </a:solidFill>
            <a:ln w="38100" cap="sq">
              <a:solidFill>
                <a:srgbClr val="0A322B"/>
              </a:solidFill>
              <a:prstDash val="solid"/>
              <a:miter/>
            </a:ln>
          </p:spPr>
        </p:sp>
        <p:sp>
          <p:nvSpPr>
            <p:cNvPr id="19" name="TextBox 19"/>
            <p:cNvSpPr txBox="1"/>
            <p:nvPr/>
          </p:nvSpPr>
          <p:spPr>
            <a:xfrm>
              <a:off x="0" y="-38100"/>
              <a:ext cx="4302551" cy="19420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225520" y="3765065"/>
            <a:ext cx="6057746"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ALUR PEMINJAMAN</a:t>
            </a:r>
          </a:p>
        </p:txBody>
      </p:sp>
      <p:sp>
        <p:nvSpPr>
          <p:cNvPr id="21" name="AutoShape 21"/>
          <p:cNvSpPr/>
          <p:nvPr/>
        </p:nvSpPr>
        <p:spPr>
          <a:xfrm>
            <a:off x="7858698" y="3510412"/>
            <a:ext cx="9524" cy="4910868"/>
          </a:xfrm>
          <a:prstGeom prst="line">
            <a:avLst/>
          </a:prstGeom>
          <a:ln w="19050" cap="flat">
            <a:solidFill>
              <a:srgbClr val="000000"/>
            </a:solidFill>
            <a:prstDash val="solid"/>
            <a:headEnd type="none" w="sm" len="sm"/>
            <a:tailEnd type="none" w="sm" len="sm"/>
          </a:ln>
        </p:spPr>
      </p:sp>
      <p:sp>
        <p:nvSpPr>
          <p:cNvPr id="22" name="Freeform 22"/>
          <p:cNvSpPr/>
          <p:nvPr/>
        </p:nvSpPr>
        <p:spPr>
          <a:xfrm>
            <a:off x="4432010" y="2157630"/>
            <a:ext cx="8012153" cy="1436938"/>
          </a:xfrm>
          <a:custGeom>
            <a:avLst/>
            <a:gdLst/>
            <a:ahLst/>
            <a:cxnLst/>
            <a:rect l="l" t="t" r="r" b="b"/>
            <a:pathLst>
              <a:path w="8012153" h="1436938">
                <a:moveTo>
                  <a:pt x="0" y="0"/>
                </a:moveTo>
                <a:lnTo>
                  <a:pt x="8012153" y="0"/>
                </a:lnTo>
                <a:lnTo>
                  <a:pt x="8012153" y="1436937"/>
                </a:lnTo>
                <a:lnTo>
                  <a:pt x="0" y="1436937"/>
                </a:lnTo>
                <a:lnTo>
                  <a:pt x="0" y="0"/>
                </a:lnTo>
                <a:close/>
              </a:path>
            </a:pathLst>
          </a:custGeom>
          <a:blipFill>
            <a:blip r:embed="rId4"/>
            <a:stretch>
              <a:fillRect t="-11964"/>
            </a:stretch>
          </a:blipFill>
        </p:spPr>
      </p:sp>
      <p:sp>
        <p:nvSpPr>
          <p:cNvPr id="23" name="TextBox 23"/>
          <p:cNvSpPr txBox="1"/>
          <p:nvPr/>
        </p:nvSpPr>
        <p:spPr>
          <a:xfrm>
            <a:off x="1399875" y="833286"/>
            <a:ext cx="12242130" cy="713622"/>
          </a:xfrm>
          <a:prstGeom prst="rect">
            <a:avLst/>
          </a:prstGeom>
        </p:spPr>
        <p:txBody>
          <a:bodyPr lIns="0" tIns="0" rIns="0" bIns="0" rtlCol="0" anchor="t">
            <a:spAutoFit/>
          </a:bodyPr>
          <a:lstStyle/>
          <a:p>
            <a:pPr marL="0" lvl="0" indent="0" algn="l">
              <a:lnSpc>
                <a:spcPts val="5130"/>
              </a:lnSpc>
              <a:spcBef>
                <a:spcPct val="0"/>
              </a:spcBef>
            </a:pPr>
            <a:r>
              <a:rPr lang="en-US" sz="5457" spc="-272">
                <a:solidFill>
                  <a:srgbClr val="FCDE8C"/>
                </a:solidFill>
                <a:latin typeface="210 클레이토이"/>
                <a:ea typeface="210 클레이토이"/>
                <a:cs typeface="210 클레이토이"/>
                <a:sym typeface="210 클레이토이"/>
              </a:rPr>
              <a:t>ALUR SISTEM</a:t>
            </a:r>
          </a:p>
        </p:txBody>
      </p:sp>
      <p:sp>
        <p:nvSpPr>
          <p:cNvPr id="24" name="TextBox 24"/>
          <p:cNvSpPr txBox="1"/>
          <p:nvPr/>
        </p:nvSpPr>
        <p:spPr>
          <a:xfrm>
            <a:off x="9988384" y="4448960"/>
            <a:ext cx="4911556" cy="2935986"/>
          </a:xfrm>
          <a:prstGeom prst="rect">
            <a:avLst/>
          </a:prstGeom>
        </p:spPr>
        <p:txBody>
          <a:bodyPr lIns="0" tIns="0" rIns="0" bIns="0" rtlCol="0" anchor="t">
            <a:spAutoFit/>
          </a:bodyPr>
          <a:lstStyle/>
          <a:p>
            <a:pPr marL="518157" lvl="1" indent="-259078" algn="l">
              <a:lnSpc>
                <a:spcPts val="3311"/>
              </a:lnSpc>
              <a:buAutoNum type="arabicPeriod"/>
            </a:pPr>
            <a:r>
              <a:rPr lang="en-US" sz="2399" spc="-119">
                <a:solidFill>
                  <a:srgbClr val="231F20"/>
                </a:solidFill>
                <a:latin typeface="Quicksand"/>
                <a:ea typeface="Quicksand"/>
                <a:cs typeface="Quicksand"/>
                <a:sym typeface="Quicksand"/>
              </a:rPr>
              <a:t>Pilih peminjaman aktif</a:t>
            </a:r>
          </a:p>
          <a:p>
            <a:pPr marL="518157" lvl="1" indent="-259078" algn="l">
              <a:lnSpc>
                <a:spcPts val="3311"/>
              </a:lnSpc>
              <a:buAutoNum type="arabicPeriod"/>
            </a:pPr>
            <a:r>
              <a:rPr lang="en-US" sz="2399" spc="-119">
                <a:solidFill>
                  <a:srgbClr val="231F20"/>
                </a:solidFill>
                <a:latin typeface="Quicksand"/>
                <a:ea typeface="Quicksand"/>
                <a:cs typeface="Quicksand"/>
                <a:sym typeface="Quicksand"/>
              </a:rPr>
              <a:t>Sistem cek tanggal</a:t>
            </a:r>
          </a:p>
          <a:p>
            <a:pPr marL="518157" lvl="1" indent="-259078" algn="l">
              <a:lnSpc>
                <a:spcPts val="3311"/>
              </a:lnSpc>
              <a:buAutoNum type="arabicPeriod"/>
            </a:pPr>
            <a:r>
              <a:rPr lang="en-US" sz="2399" spc="-119">
                <a:solidFill>
                  <a:srgbClr val="231F20"/>
                </a:solidFill>
                <a:latin typeface="Quicksand"/>
                <a:ea typeface="Quicksand"/>
                <a:cs typeface="Quicksand"/>
                <a:sym typeface="Quicksand"/>
              </a:rPr>
              <a:t>Hitung denda (jika terlambat)</a:t>
            </a:r>
          </a:p>
          <a:p>
            <a:pPr marL="518157" lvl="1" indent="-259078" algn="l">
              <a:lnSpc>
                <a:spcPts val="3311"/>
              </a:lnSpc>
              <a:buAutoNum type="arabicPeriod"/>
            </a:pPr>
            <a:r>
              <a:rPr lang="en-US" sz="2399" spc="-119">
                <a:solidFill>
                  <a:srgbClr val="231F20"/>
                </a:solidFill>
                <a:latin typeface="Quicksand"/>
                <a:ea typeface="Quicksand"/>
                <a:cs typeface="Quicksand"/>
                <a:sym typeface="Quicksand"/>
              </a:rPr>
              <a:t>Simpan data pengembalian</a:t>
            </a:r>
          </a:p>
          <a:p>
            <a:pPr marL="518157" lvl="1" indent="-259078" algn="l">
              <a:lnSpc>
                <a:spcPts val="3311"/>
              </a:lnSpc>
              <a:buAutoNum type="arabicPeriod"/>
            </a:pPr>
            <a:r>
              <a:rPr lang="en-US" sz="2399" spc="-119">
                <a:solidFill>
                  <a:srgbClr val="231F20"/>
                </a:solidFill>
                <a:latin typeface="Quicksand"/>
                <a:ea typeface="Quicksand"/>
                <a:cs typeface="Quicksand"/>
                <a:sym typeface="Quicksand"/>
              </a:rPr>
              <a:t>Tambah stok buku</a:t>
            </a:r>
          </a:p>
          <a:p>
            <a:pPr marL="518157" lvl="1" indent="-259078" algn="l">
              <a:lnSpc>
                <a:spcPts val="3311"/>
              </a:lnSpc>
              <a:buAutoNum type="arabicPeriod"/>
            </a:pPr>
            <a:r>
              <a:rPr lang="en-US" sz="2399" spc="-119">
                <a:solidFill>
                  <a:srgbClr val="231F20"/>
                </a:solidFill>
                <a:latin typeface="Quicksand"/>
                <a:ea typeface="Quicksand"/>
                <a:cs typeface="Quicksand"/>
                <a:sym typeface="Quicksand"/>
              </a:rPr>
              <a:t>Pindahkan ke riwayat</a:t>
            </a:r>
          </a:p>
          <a:p>
            <a:pPr marL="0" lvl="0" indent="0" algn="l">
              <a:lnSpc>
                <a:spcPts val="3311"/>
              </a:lnSpc>
            </a:pPr>
            <a:endParaRPr lang="en-US" sz="2399" spc="-119">
              <a:solidFill>
                <a:srgbClr val="231F20"/>
              </a:solidFill>
              <a:latin typeface="Quicksand"/>
              <a:ea typeface="Quicksand"/>
              <a:cs typeface="Quicksand"/>
              <a:sym typeface="Quicksand"/>
            </a:endParaRPr>
          </a:p>
        </p:txBody>
      </p:sp>
      <p:sp>
        <p:nvSpPr>
          <p:cNvPr id="25" name="TextBox 25"/>
          <p:cNvSpPr txBox="1"/>
          <p:nvPr/>
        </p:nvSpPr>
        <p:spPr>
          <a:xfrm>
            <a:off x="8842194" y="3765065"/>
            <a:ext cx="6057746" cy="512445"/>
          </a:xfrm>
          <a:prstGeom prst="rect">
            <a:avLst/>
          </a:prstGeom>
        </p:spPr>
        <p:txBody>
          <a:bodyPr lIns="0" tIns="0" rIns="0" bIns="0" rtlCol="0" anchor="t">
            <a:spAutoFit/>
          </a:bodyPr>
          <a:lstStyle/>
          <a:p>
            <a:pPr marL="0" lvl="0" indent="0" algn="l">
              <a:lnSpc>
                <a:spcPts val="4140"/>
              </a:lnSpc>
            </a:pPr>
            <a:r>
              <a:rPr lang="en-US" sz="3000" b="1" spc="-150">
                <a:solidFill>
                  <a:srgbClr val="231F20"/>
                </a:solidFill>
                <a:latin typeface="Quicksand Bold"/>
                <a:ea typeface="Quicksand Bold"/>
                <a:cs typeface="Quicksand Bold"/>
                <a:sym typeface="Quicksand Bold"/>
              </a:rPr>
              <a:t>ALUR PENGEMBALIAN</a:t>
            </a:r>
          </a:p>
        </p:txBody>
      </p:sp>
      <p:sp>
        <p:nvSpPr>
          <p:cNvPr id="26" name="TextBox 26"/>
          <p:cNvSpPr txBox="1"/>
          <p:nvPr/>
        </p:nvSpPr>
        <p:spPr>
          <a:xfrm>
            <a:off x="2036090" y="4468010"/>
            <a:ext cx="5484850" cy="2957572"/>
          </a:xfrm>
          <a:prstGeom prst="rect">
            <a:avLst/>
          </a:prstGeom>
        </p:spPr>
        <p:txBody>
          <a:bodyPr lIns="0" tIns="0" rIns="0" bIns="0" rtlCol="0" anchor="t">
            <a:spAutoFit/>
          </a:bodyPr>
          <a:lstStyle/>
          <a:p>
            <a:pPr marL="525471" lvl="1" indent="-262735" algn="l">
              <a:lnSpc>
                <a:spcPts val="3358"/>
              </a:lnSpc>
              <a:buAutoNum type="arabicPeriod"/>
            </a:pPr>
            <a:r>
              <a:rPr lang="en-US" sz="2433" spc="-121">
                <a:solidFill>
                  <a:srgbClr val="231F20"/>
                </a:solidFill>
                <a:latin typeface="Quicksand"/>
                <a:ea typeface="Quicksand"/>
                <a:cs typeface="Quicksand"/>
                <a:sym typeface="Quicksand"/>
              </a:rPr>
              <a:t>Cek ketersediaan buku</a:t>
            </a:r>
          </a:p>
          <a:p>
            <a:pPr marL="525471" lvl="1" indent="-262735" algn="l">
              <a:lnSpc>
                <a:spcPts val="3358"/>
              </a:lnSpc>
              <a:buAutoNum type="arabicPeriod"/>
            </a:pPr>
            <a:r>
              <a:rPr lang="en-US" sz="2433" spc="-121">
                <a:solidFill>
                  <a:srgbClr val="231F20"/>
                </a:solidFill>
                <a:latin typeface="Quicksand"/>
                <a:ea typeface="Quicksand"/>
                <a:cs typeface="Quicksand"/>
                <a:sym typeface="Quicksand"/>
              </a:rPr>
              <a:t>Input ID buku</a:t>
            </a:r>
          </a:p>
          <a:p>
            <a:pPr marL="525471" lvl="1" indent="-262735" algn="l">
              <a:lnSpc>
                <a:spcPts val="3358"/>
              </a:lnSpc>
              <a:buAutoNum type="arabicPeriod"/>
            </a:pPr>
            <a:r>
              <a:rPr lang="en-US" sz="2433" spc="-121">
                <a:solidFill>
                  <a:srgbClr val="231F20"/>
                </a:solidFill>
                <a:latin typeface="Quicksand"/>
                <a:ea typeface="Quicksand"/>
                <a:cs typeface="Quicksand"/>
                <a:sym typeface="Quicksand"/>
              </a:rPr>
              <a:t>Sistem validasi stok</a:t>
            </a:r>
          </a:p>
          <a:p>
            <a:pPr marL="525471" lvl="1" indent="-262735" algn="l">
              <a:lnSpc>
                <a:spcPts val="3358"/>
              </a:lnSpc>
              <a:buAutoNum type="arabicPeriod"/>
            </a:pPr>
            <a:r>
              <a:rPr lang="en-US" sz="2433" spc="-121">
                <a:solidFill>
                  <a:srgbClr val="231F20"/>
                </a:solidFill>
                <a:latin typeface="Quicksand"/>
                <a:ea typeface="Quicksand"/>
                <a:cs typeface="Quicksand"/>
                <a:sym typeface="Quicksand"/>
              </a:rPr>
              <a:t>Tentukan tanggal pinjam &amp; kembali</a:t>
            </a:r>
          </a:p>
          <a:p>
            <a:pPr marL="525471" lvl="1" indent="-262735" algn="l">
              <a:lnSpc>
                <a:spcPts val="3358"/>
              </a:lnSpc>
              <a:buAutoNum type="arabicPeriod"/>
            </a:pPr>
            <a:r>
              <a:rPr lang="en-US" sz="2433" spc="-121">
                <a:solidFill>
                  <a:srgbClr val="231F20"/>
                </a:solidFill>
                <a:latin typeface="Quicksand"/>
                <a:ea typeface="Quicksand"/>
                <a:cs typeface="Quicksand"/>
                <a:sym typeface="Quicksand"/>
              </a:rPr>
              <a:t>Kurangi stok buku</a:t>
            </a:r>
          </a:p>
          <a:p>
            <a:pPr marL="525471" lvl="1" indent="-262735" algn="l">
              <a:lnSpc>
                <a:spcPts val="3358"/>
              </a:lnSpc>
              <a:buAutoNum type="arabicPeriod"/>
            </a:pPr>
            <a:r>
              <a:rPr lang="en-US" sz="2433" spc="-121">
                <a:solidFill>
                  <a:srgbClr val="231F20"/>
                </a:solidFill>
                <a:latin typeface="Quicksand"/>
                <a:ea typeface="Quicksand"/>
                <a:cs typeface="Quicksand"/>
                <a:sym typeface="Quicksand"/>
              </a:rPr>
              <a:t>Simpan data peminjaman</a:t>
            </a:r>
          </a:p>
          <a:p>
            <a:pPr marL="0" lvl="0" indent="0" algn="l">
              <a:lnSpc>
                <a:spcPts val="3358"/>
              </a:lnSpc>
            </a:pPr>
            <a:endParaRPr lang="en-US" sz="2433" spc="-121">
              <a:solidFill>
                <a:srgbClr val="231F20"/>
              </a:solidFill>
              <a:latin typeface="Quicksand"/>
              <a:ea typeface="Quicksand"/>
              <a:cs typeface="Quicksand"/>
              <a:sym typeface="Quicksa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654155" y="1174702"/>
            <a:ext cx="18942155" cy="2633505"/>
            <a:chOff x="0" y="0"/>
            <a:chExt cx="4988880" cy="693598"/>
          </a:xfrm>
        </p:grpSpPr>
        <p:sp>
          <p:nvSpPr>
            <p:cNvPr id="12" name="Freeform 12"/>
            <p:cNvSpPr/>
            <p:nvPr/>
          </p:nvSpPr>
          <p:spPr>
            <a:xfrm>
              <a:off x="0" y="0"/>
              <a:ext cx="4988880" cy="693598"/>
            </a:xfrm>
            <a:custGeom>
              <a:avLst/>
              <a:gdLst/>
              <a:ahLst/>
              <a:cxnLst/>
              <a:rect l="l" t="t" r="r" b="b"/>
              <a:pathLst>
                <a:path w="4988880" h="693598">
                  <a:moveTo>
                    <a:pt x="0" y="0"/>
                  </a:moveTo>
                  <a:lnTo>
                    <a:pt x="4988880" y="0"/>
                  </a:lnTo>
                  <a:lnTo>
                    <a:pt x="4988880" y="693598"/>
                  </a:lnTo>
                  <a:lnTo>
                    <a:pt x="0" y="693598"/>
                  </a:lnTo>
                  <a:close/>
                </a:path>
              </a:pathLst>
            </a:custGeom>
            <a:solidFill>
              <a:srgbClr val="26B096"/>
            </a:solidFill>
          </p:spPr>
        </p:sp>
        <p:sp>
          <p:nvSpPr>
            <p:cNvPr id="13" name="TextBox 13"/>
            <p:cNvSpPr txBox="1"/>
            <p:nvPr/>
          </p:nvSpPr>
          <p:spPr>
            <a:xfrm>
              <a:off x="0" y="-38100"/>
              <a:ext cx="4988880" cy="731698"/>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034264" y="1992413"/>
            <a:ext cx="13565317" cy="1217159"/>
          </a:xfrm>
          <a:prstGeom prst="rect">
            <a:avLst/>
          </a:prstGeom>
        </p:spPr>
        <p:txBody>
          <a:bodyPr lIns="0" tIns="0" rIns="0" bIns="0" rtlCol="0" anchor="t">
            <a:spAutoFit/>
          </a:bodyPr>
          <a:lstStyle/>
          <a:p>
            <a:pPr marL="0" lvl="0" indent="0" algn="ctr">
              <a:lnSpc>
                <a:spcPts val="8889"/>
              </a:lnSpc>
              <a:spcBef>
                <a:spcPct val="0"/>
              </a:spcBef>
            </a:pPr>
            <a:r>
              <a:rPr lang="en-US" sz="9457" spc="-472">
                <a:solidFill>
                  <a:srgbClr val="FCDE8C"/>
                </a:solidFill>
                <a:latin typeface="210 클레이토이"/>
                <a:ea typeface="210 클레이토이"/>
                <a:cs typeface="210 클레이토이"/>
                <a:sym typeface="210 클레이토이"/>
              </a:rPr>
              <a:t>KESI</a:t>
            </a:r>
            <a:r>
              <a:rPr lang="en-US" sz="9457" u="none" strike="noStrike" spc="-472">
                <a:solidFill>
                  <a:srgbClr val="FCDE8C"/>
                </a:solidFill>
                <a:latin typeface="210 클레이토이"/>
                <a:ea typeface="210 클레이토이"/>
                <a:cs typeface="210 클레이토이"/>
                <a:sym typeface="210 클레이토이"/>
              </a:rPr>
              <a:t>MPULAN</a:t>
            </a:r>
          </a:p>
        </p:txBody>
      </p:sp>
      <p:grpSp>
        <p:nvGrpSpPr>
          <p:cNvPr id="15" name="Group 15"/>
          <p:cNvGrpSpPr/>
          <p:nvPr/>
        </p:nvGrpSpPr>
        <p:grpSpPr>
          <a:xfrm>
            <a:off x="2361342" y="3209572"/>
            <a:ext cx="13565317" cy="6214804"/>
            <a:chOff x="0" y="0"/>
            <a:chExt cx="3572758" cy="1636821"/>
          </a:xfrm>
        </p:grpSpPr>
        <p:sp>
          <p:nvSpPr>
            <p:cNvPr id="16" name="Freeform 16"/>
            <p:cNvSpPr/>
            <p:nvPr/>
          </p:nvSpPr>
          <p:spPr>
            <a:xfrm>
              <a:off x="0" y="0"/>
              <a:ext cx="3572758" cy="1636821"/>
            </a:xfrm>
            <a:custGeom>
              <a:avLst/>
              <a:gdLst/>
              <a:ahLst/>
              <a:cxnLst/>
              <a:rect l="l" t="t" r="r" b="b"/>
              <a:pathLst>
                <a:path w="3572758" h="1636821">
                  <a:moveTo>
                    <a:pt x="10273" y="0"/>
                  </a:moveTo>
                  <a:lnTo>
                    <a:pt x="3562485" y="0"/>
                  </a:lnTo>
                  <a:cubicBezTo>
                    <a:pt x="3568159" y="0"/>
                    <a:pt x="3572758" y="4599"/>
                    <a:pt x="3572758" y="10273"/>
                  </a:cubicBezTo>
                  <a:lnTo>
                    <a:pt x="3572758" y="1626548"/>
                  </a:lnTo>
                  <a:cubicBezTo>
                    <a:pt x="3572758" y="1632221"/>
                    <a:pt x="3568159" y="1636821"/>
                    <a:pt x="3562485" y="1636821"/>
                  </a:cubicBezTo>
                  <a:lnTo>
                    <a:pt x="10273" y="1636821"/>
                  </a:lnTo>
                  <a:cubicBezTo>
                    <a:pt x="4599" y="1636821"/>
                    <a:pt x="0" y="1632221"/>
                    <a:pt x="0" y="1626548"/>
                  </a:cubicBezTo>
                  <a:lnTo>
                    <a:pt x="0" y="10273"/>
                  </a:lnTo>
                  <a:cubicBezTo>
                    <a:pt x="0" y="4599"/>
                    <a:pt x="4599" y="0"/>
                    <a:pt x="10273" y="0"/>
                  </a:cubicBezTo>
                  <a:close/>
                </a:path>
              </a:pathLst>
            </a:custGeom>
            <a:solidFill>
              <a:srgbClr val="FFFFFF"/>
            </a:solidFill>
            <a:ln w="38100" cap="sq">
              <a:solidFill>
                <a:srgbClr val="0A322B"/>
              </a:solidFill>
              <a:prstDash val="solid"/>
              <a:miter/>
            </a:ln>
          </p:spPr>
        </p:sp>
        <p:sp>
          <p:nvSpPr>
            <p:cNvPr id="17" name="TextBox 17"/>
            <p:cNvSpPr txBox="1"/>
            <p:nvPr/>
          </p:nvSpPr>
          <p:spPr>
            <a:xfrm>
              <a:off x="0" y="-38100"/>
              <a:ext cx="3572758" cy="167492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3329845" y="3412801"/>
            <a:ext cx="11628309" cy="5751196"/>
          </a:xfrm>
          <a:prstGeom prst="rect">
            <a:avLst/>
          </a:prstGeom>
        </p:spPr>
        <p:txBody>
          <a:bodyPr lIns="0" tIns="0" rIns="0" bIns="0" rtlCol="0" anchor="t">
            <a:spAutoFit/>
          </a:bodyPr>
          <a:lstStyle/>
          <a:p>
            <a:pPr algn="l">
              <a:lnSpc>
                <a:spcPts val="4139"/>
              </a:lnSpc>
            </a:pPr>
            <a:r>
              <a:rPr lang="en-US" sz="2999" spc="-149">
                <a:solidFill>
                  <a:srgbClr val="231F20"/>
                </a:solidFill>
                <a:latin typeface="Quicksand"/>
                <a:ea typeface="Quicksand"/>
                <a:cs typeface="Quicksand"/>
                <a:sym typeface="Quicksand"/>
              </a:rPr>
              <a:t>Sistem Peminjaman Buku Perpustakaan berhasil dirancang menggunakan konsep Object-Oriented Programming dengan penerapan enkapsulasi, pewarisan, dan polimorfisme. Sistem memiliki arsitektur yang terstruktur dengan pemisahan antarmuka, logika proses, dan penyimpanan data. Fitur yang disediakan meliputi pengelolaan data buku dan anggota, pencarian buku, peminjaman dan pengembalian dengan perhitungan denda otomatis, pemantauan peminjaman aktif, serta riwayat dan laporan transaksi. Aplikasi berbasis Java Swing ini memudahkan anggota dan petugas dalam mengelola kegiatan perpustakaan secara lebih rapi dan efisien.</a:t>
            </a:r>
          </a:p>
          <a:p>
            <a:pPr marL="0" lvl="0" indent="0" algn="l">
              <a:lnSpc>
                <a:spcPts val="4139"/>
              </a:lnSpc>
            </a:pPr>
            <a:endParaRPr lang="en-US" sz="2999" spc="-149">
              <a:solidFill>
                <a:srgbClr val="231F20"/>
              </a:solidFill>
              <a:latin typeface="Quicksand"/>
              <a:ea typeface="Quicksand"/>
              <a:cs typeface="Quicksand"/>
              <a:sym typeface="Quicksa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4DC"/>
        </a:solidFill>
        <a:effectLst/>
      </p:bgPr>
    </p:bg>
    <p:spTree>
      <p:nvGrpSpPr>
        <p:cNvPr id="1" name=""/>
        <p:cNvGrpSpPr/>
        <p:nvPr/>
      </p:nvGrpSpPr>
      <p:grpSpPr>
        <a:xfrm>
          <a:off x="0" y="0"/>
          <a:ext cx="0" cy="0"/>
          <a:chOff x="0" y="0"/>
          <a:chExt cx="0" cy="0"/>
        </a:xfrm>
      </p:grpSpPr>
      <p:grpSp>
        <p:nvGrpSpPr>
          <p:cNvPr id="2" name="Group 2"/>
          <p:cNvGrpSpPr/>
          <p:nvPr/>
        </p:nvGrpSpPr>
        <p:grpSpPr>
          <a:xfrm>
            <a:off x="-1415103" y="-141077"/>
            <a:ext cx="21118205" cy="10569154"/>
            <a:chOff x="0" y="0"/>
            <a:chExt cx="28157607" cy="14092205"/>
          </a:xfrm>
        </p:grpSpPr>
        <p:sp>
          <p:nvSpPr>
            <p:cNvPr id="3" name="Freeform 3"/>
            <p:cNvSpPr/>
            <p:nvPr/>
          </p:nvSpPr>
          <p:spPr>
            <a:xfrm>
              <a:off x="0"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7034187"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5" name="Freeform 5"/>
            <p:cNvSpPr/>
            <p:nvPr/>
          </p:nvSpPr>
          <p:spPr>
            <a:xfrm>
              <a:off x="0"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7034187"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4068374" y="0"/>
              <a:ext cx="7055045" cy="7055045"/>
            </a:xfrm>
            <a:custGeom>
              <a:avLst/>
              <a:gdLst/>
              <a:ahLst/>
              <a:cxnLst/>
              <a:rect l="l" t="t" r="r" b="b"/>
              <a:pathLst>
                <a:path w="7055045" h="7055045">
                  <a:moveTo>
                    <a:pt x="0" y="0"/>
                  </a:moveTo>
                  <a:lnTo>
                    <a:pt x="7055046" y="0"/>
                  </a:lnTo>
                  <a:lnTo>
                    <a:pt x="7055046"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4068374" y="7037159"/>
              <a:ext cx="7055045" cy="7055045"/>
            </a:xfrm>
            <a:custGeom>
              <a:avLst/>
              <a:gdLst/>
              <a:ahLst/>
              <a:cxnLst/>
              <a:rect l="l" t="t" r="r" b="b"/>
              <a:pathLst>
                <a:path w="7055045" h="7055045">
                  <a:moveTo>
                    <a:pt x="0" y="0"/>
                  </a:moveTo>
                  <a:lnTo>
                    <a:pt x="7055046" y="0"/>
                  </a:lnTo>
                  <a:lnTo>
                    <a:pt x="7055046"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21102562" y="0"/>
              <a:ext cx="7055045" cy="7055045"/>
            </a:xfrm>
            <a:custGeom>
              <a:avLst/>
              <a:gdLst/>
              <a:ahLst/>
              <a:cxnLst/>
              <a:rect l="l" t="t" r="r" b="b"/>
              <a:pathLst>
                <a:path w="7055045" h="7055045">
                  <a:moveTo>
                    <a:pt x="0" y="0"/>
                  </a:moveTo>
                  <a:lnTo>
                    <a:pt x="7055045" y="0"/>
                  </a:lnTo>
                  <a:lnTo>
                    <a:pt x="7055045" y="7055045"/>
                  </a:lnTo>
                  <a:lnTo>
                    <a:pt x="0" y="7055045"/>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21102562" y="7037159"/>
              <a:ext cx="7055045" cy="7055045"/>
            </a:xfrm>
            <a:custGeom>
              <a:avLst/>
              <a:gdLst/>
              <a:ahLst/>
              <a:cxnLst/>
              <a:rect l="l" t="t" r="r" b="b"/>
              <a:pathLst>
                <a:path w="7055045" h="7055045">
                  <a:moveTo>
                    <a:pt x="0" y="0"/>
                  </a:moveTo>
                  <a:lnTo>
                    <a:pt x="7055045" y="0"/>
                  </a:lnTo>
                  <a:lnTo>
                    <a:pt x="7055045" y="7055046"/>
                  </a:lnTo>
                  <a:lnTo>
                    <a:pt x="0" y="7055046"/>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a:ln cap="sq">
              <a:noFill/>
              <a:prstDash val="solid"/>
              <a:miter/>
            </a:ln>
          </p:spPr>
        </p:sp>
      </p:grpSp>
      <p:grpSp>
        <p:nvGrpSpPr>
          <p:cNvPr id="11" name="Group 11"/>
          <p:cNvGrpSpPr/>
          <p:nvPr/>
        </p:nvGrpSpPr>
        <p:grpSpPr>
          <a:xfrm>
            <a:off x="1659855" y="2484461"/>
            <a:ext cx="14939387" cy="5239916"/>
            <a:chOff x="0" y="0"/>
            <a:chExt cx="3560744" cy="1248913"/>
          </a:xfrm>
        </p:grpSpPr>
        <p:sp>
          <p:nvSpPr>
            <p:cNvPr id="12" name="Freeform 12"/>
            <p:cNvSpPr/>
            <p:nvPr/>
          </p:nvSpPr>
          <p:spPr>
            <a:xfrm>
              <a:off x="0" y="0"/>
              <a:ext cx="3560744" cy="1248913"/>
            </a:xfrm>
            <a:custGeom>
              <a:avLst/>
              <a:gdLst/>
              <a:ahLst/>
              <a:cxnLst/>
              <a:rect l="l" t="t" r="r" b="b"/>
              <a:pathLst>
                <a:path w="3560744" h="1248913">
                  <a:moveTo>
                    <a:pt x="10883" y="0"/>
                  </a:moveTo>
                  <a:lnTo>
                    <a:pt x="3549861" y="0"/>
                  </a:lnTo>
                  <a:cubicBezTo>
                    <a:pt x="3552747" y="0"/>
                    <a:pt x="3555516" y="1147"/>
                    <a:pt x="3557556" y="3187"/>
                  </a:cubicBezTo>
                  <a:cubicBezTo>
                    <a:pt x="3559597" y="5228"/>
                    <a:pt x="3560744" y="7996"/>
                    <a:pt x="3560744" y="10883"/>
                  </a:cubicBezTo>
                  <a:lnTo>
                    <a:pt x="3560744" y="1238030"/>
                  </a:lnTo>
                  <a:cubicBezTo>
                    <a:pt x="3560744" y="1244041"/>
                    <a:pt x="3555872" y="1248913"/>
                    <a:pt x="3549861" y="1248913"/>
                  </a:cubicBezTo>
                  <a:lnTo>
                    <a:pt x="10883" y="1248913"/>
                  </a:lnTo>
                  <a:cubicBezTo>
                    <a:pt x="4872" y="1248913"/>
                    <a:pt x="0" y="1244041"/>
                    <a:pt x="0" y="1238030"/>
                  </a:cubicBezTo>
                  <a:lnTo>
                    <a:pt x="0" y="10883"/>
                  </a:lnTo>
                  <a:cubicBezTo>
                    <a:pt x="0" y="4872"/>
                    <a:pt x="4872" y="0"/>
                    <a:pt x="10883" y="0"/>
                  </a:cubicBezTo>
                  <a:close/>
                </a:path>
              </a:pathLst>
            </a:custGeom>
            <a:solidFill>
              <a:srgbClr val="26B096"/>
            </a:solidFill>
            <a:ln w="38100" cap="rnd">
              <a:solidFill>
                <a:srgbClr val="0A322B"/>
              </a:solidFill>
              <a:prstDash val="solid"/>
              <a:round/>
            </a:ln>
          </p:spPr>
        </p:sp>
        <p:sp>
          <p:nvSpPr>
            <p:cNvPr id="13" name="TextBox 13"/>
            <p:cNvSpPr txBox="1"/>
            <p:nvPr/>
          </p:nvSpPr>
          <p:spPr>
            <a:xfrm>
              <a:off x="0" y="-38100"/>
              <a:ext cx="3560744" cy="1287013"/>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2410068" y="3818423"/>
            <a:ext cx="13660121" cy="2543337"/>
            <a:chOff x="0" y="0"/>
            <a:chExt cx="3255836" cy="606194"/>
          </a:xfrm>
        </p:grpSpPr>
        <p:sp>
          <p:nvSpPr>
            <p:cNvPr id="15" name="Freeform 15"/>
            <p:cNvSpPr/>
            <p:nvPr/>
          </p:nvSpPr>
          <p:spPr>
            <a:xfrm>
              <a:off x="0" y="0"/>
              <a:ext cx="3255836" cy="606194"/>
            </a:xfrm>
            <a:custGeom>
              <a:avLst/>
              <a:gdLst/>
              <a:ahLst/>
              <a:cxnLst/>
              <a:rect l="l" t="t" r="r" b="b"/>
              <a:pathLst>
                <a:path w="3255836" h="606194">
                  <a:moveTo>
                    <a:pt x="10202" y="0"/>
                  </a:moveTo>
                  <a:lnTo>
                    <a:pt x="3245634" y="0"/>
                  </a:lnTo>
                  <a:cubicBezTo>
                    <a:pt x="3248340" y="0"/>
                    <a:pt x="3250935" y="1075"/>
                    <a:pt x="3252848" y="2988"/>
                  </a:cubicBezTo>
                  <a:cubicBezTo>
                    <a:pt x="3254761" y="4901"/>
                    <a:pt x="3255836" y="7496"/>
                    <a:pt x="3255836" y="10202"/>
                  </a:cubicBezTo>
                  <a:lnTo>
                    <a:pt x="3255836" y="595993"/>
                  </a:lnTo>
                  <a:cubicBezTo>
                    <a:pt x="3255836" y="598698"/>
                    <a:pt x="3254761" y="601293"/>
                    <a:pt x="3252848" y="603206"/>
                  </a:cubicBezTo>
                  <a:cubicBezTo>
                    <a:pt x="3250935" y="605120"/>
                    <a:pt x="3248340" y="606194"/>
                    <a:pt x="3245634" y="606194"/>
                  </a:cubicBezTo>
                  <a:lnTo>
                    <a:pt x="10202" y="606194"/>
                  </a:lnTo>
                  <a:cubicBezTo>
                    <a:pt x="7496" y="606194"/>
                    <a:pt x="4901" y="605120"/>
                    <a:pt x="2988" y="603206"/>
                  </a:cubicBezTo>
                  <a:cubicBezTo>
                    <a:pt x="1075" y="601293"/>
                    <a:pt x="0" y="598698"/>
                    <a:pt x="0" y="595993"/>
                  </a:cubicBezTo>
                  <a:lnTo>
                    <a:pt x="0" y="10202"/>
                  </a:lnTo>
                  <a:cubicBezTo>
                    <a:pt x="0" y="7496"/>
                    <a:pt x="1075" y="4901"/>
                    <a:pt x="2988" y="2988"/>
                  </a:cubicBezTo>
                  <a:cubicBezTo>
                    <a:pt x="4901" y="1075"/>
                    <a:pt x="7496" y="0"/>
                    <a:pt x="10202" y="0"/>
                  </a:cubicBezTo>
                  <a:close/>
                </a:path>
              </a:pathLst>
            </a:custGeom>
            <a:solidFill>
              <a:srgbClr val="FFFFFF"/>
            </a:solidFill>
            <a:ln w="38100" cap="sq">
              <a:solidFill>
                <a:srgbClr val="0A322B"/>
              </a:solidFill>
              <a:prstDash val="solid"/>
              <a:miter/>
            </a:ln>
          </p:spPr>
        </p:sp>
        <p:sp>
          <p:nvSpPr>
            <p:cNvPr id="16" name="TextBox 16"/>
            <p:cNvSpPr txBox="1"/>
            <p:nvPr/>
          </p:nvSpPr>
          <p:spPr>
            <a:xfrm>
              <a:off x="0" y="-38100"/>
              <a:ext cx="3255836" cy="64429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32063" y="4469797"/>
            <a:ext cx="13794972" cy="1516814"/>
          </a:xfrm>
          <a:prstGeom prst="rect">
            <a:avLst/>
          </a:prstGeom>
        </p:spPr>
        <p:txBody>
          <a:bodyPr lIns="0" tIns="0" rIns="0" bIns="0" rtlCol="0" anchor="t">
            <a:spAutoFit/>
          </a:bodyPr>
          <a:lstStyle/>
          <a:p>
            <a:pPr algn="ctr">
              <a:lnSpc>
                <a:spcPts val="11125"/>
              </a:lnSpc>
            </a:pPr>
            <a:r>
              <a:rPr lang="en-US" sz="11835" spc="-591">
                <a:solidFill>
                  <a:srgbClr val="FCDE8C"/>
                </a:solidFill>
                <a:latin typeface="210 클레이토이"/>
                <a:ea typeface="210 클레이토이"/>
                <a:cs typeface="210 클레이토이"/>
                <a:sym typeface="210 클레이토이"/>
              </a:rPr>
              <a:t>TERIMA KASIH</a:t>
            </a:r>
          </a:p>
          <a:p>
            <a:pPr algn="ctr">
              <a:lnSpc>
                <a:spcPts val="1305"/>
              </a:lnSpc>
            </a:pPr>
            <a:endParaRPr lang="en-US" sz="11835" spc="-591">
              <a:solidFill>
                <a:srgbClr val="FCDE8C"/>
              </a:solidFill>
              <a:latin typeface="210 클레이토이"/>
              <a:ea typeface="210 클레이토이"/>
              <a:cs typeface="210 클레이토이"/>
              <a:sym typeface="210 클레이토이"/>
            </a:endParaRPr>
          </a:p>
        </p:txBody>
      </p:sp>
      <p:sp>
        <p:nvSpPr>
          <p:cNvPr id="18" name="Freeform 18"/>
          <p:cNvSpPr/>
          <p:nvPr/>
        </p:nvSpPr>
        <p:spPr>
          <a:xfrm rot="4988857">
            <a:off x="8286747" y="-1377847"/>
            <a:ext cx="828641" cy="7724615"/>
          </a:xfrm>
          <a:custGeom>
            <a:avLst/>
            <a:gdLst/>
            <a:ahLst/>
            <a:cxnLst/>
            <a:rect l="l" t="t" r="r" b="b"/>
            <a:pathLst>
              <a:path w="828641" h="7724615">
                <a:moveTo>
                  <a:pt x="0" y="0"/>
                </a:moveTo>
                <a:lnTo>
                  <a:pt x="828641" y="0"/>
                </a:lnTo>
                <a:lnTo>
                  <a:pt x="828641" y="7724616"/>
                </a:lnTo>
                <a:lnTo>
                  <a:pt x="0" y="7724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823</Words>
  <Application>Microsoft Office PowerPoint</Application>
  <PresentationFormat>Custom</PresentationFormat>
  <Paragraphs>81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Quicksand Bold</vt:lpstr>
      <vt:lpstr>Arial</vt:lpstr>
      <vt:lpstr>Quicksand</vt:lpstr>
      <vt:lpstr>210 클레이토이</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Krem Hijau dan Merah Ilustratif Tugas Kelompok Presentasi</dc:title>
  <cp:lastModifiedBy>Asus Vivobook</cp:lastModifiedBy>
  <cp:revision>3</cp:revision>
  <dcterms:created xsi:type="dcterms:W3CDTF">2006-08-16T00:00:00Z</dcterms:created>
  <dcterms:modified xsi:type="dcterms:W3CDTF">2026-01-15T10:48:30Z</dcterms:modified>
  <dc:identifier>DAG-Ykw_GYw</dc:identifier>
</cp:coreProperties>
</file>